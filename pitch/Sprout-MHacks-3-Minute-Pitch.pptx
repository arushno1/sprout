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7"/>
    <p:restoredTop sz="94610"/>
  </p:normalViewPr>
  <p:slideViewPr>
    <p:cSldViewPr snapToGrid="0" snapToObjects="1">
      <p:cViewPr varScale="1">
        <p:scale>
          <a:sx n="127" d="100"/>
          <a:sy n="127" d="100"/>
        </p:scale>
        <p:origin x="232" y="192"/>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5923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0:00–0:18 — Students have AI that can answer anything, but every chat still starts at zero. Sprout remembers what you know and grows as you 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0:18–0:40 — These are not five disconnected features. Curriculum structures the course. Learn chooses the next action. Tutor teaches. Garden visualizes mastery. Arcade turns practice into a shared game. All five share one learner model.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0:40–1:02 — A syllabus becomes a validated concept graph. The curriculum specialist extracts concepts and prerequisites, checks the graph, and asks for confirmation before activation. That graph now limits what Sprout can recommend.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1:02–1:30 — Here is the actual ASI:One flow: one request creates a live game and returns host and player actions. Sprout routes the intent to the right capability. The chat starts the action, but the learning logic and persistent state live behind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1:30–1:58 — After every answer, a transaction updates Bayesian mastery, the SM-2 review date, format evidence, and the attempt log. Learn chooses a different next action, Garden grows or wilts the concept, and Tutor changes the next lesson.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1:58–2:24 — Garden makes the course graph visible, including locked concepts and the next eligible node. Arcade uses the same backend for synchronized rooms and scores, and the course owner’s answers feed back into personal mastery.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2:24–3:00 — This is why Sprout is more than a wrapper. Fetch.ai gives us discoverable agents, the Agent Chat Protocol, ASI:One, and interactive responses. SpacetimeDB owns the learner graph, runs transactional learning algorithms, and synchronizes live games. The model writes content; the backend decides what happens next and remembers why. Sprout turns “What should I study?” into one evidence-based next action.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EFE3"/>
        </a:solidFill>
        <a:effectLst/>
      </p:bgPr>
    </p:bg>
    <p:spTree>
      <p:nvGrpSpPr>
        <p:cNvPr id="1" name=""/>
        <p:cNvGrpSpPr/>
        <p:nvPr/>
      </p:nvGrpSpPr>
      <p:grpSpPr>
        <a:xfrm>
          <a:off x="0" y="0"/>
          <a:ext cx="0" cy="0"/>
          <a:chOff x="0" y="0"/>
          <a:chExt cx="0" cy="0"/>
        </a:xfrm>
      </p:grpSpPr>
      <p:sp>
        <p:nvSpPr>
          <p:cNvPr id="2" name="Shape 0"/>
          <p:cNvSpPr/>
          <p:nvPr/>
        </p:nvSpPr>
        <p:spPr>
          <a:xfrm>
            <a:off x="548640" y="6510528"/>
            <a:ext cx="11091672" cy="0"/>
          </a:xfrm>
          <a:prstGeom prst="line">
            <a:avLst/>
          </a:prstGeom>
          <a:noFill/>
          <a:ln w="12700">
            <a:solidFill>
              <a:srgbClr val="D8CDBE"/>
            </a:solidFill>
            <a:prstDash val="solid"/>
          </a:ln>
        </p:spPr>
        <p:txBody>
          <a:bodyPr/>
          <a:lstStyle/>
          <a:p>
            <a:endParaRPr lang="en-US"/>
          </a:p>
        </p:txBody>
      </p:sp>
      <p:sp>
        <p:nvSpPr>
          <p:cNvPr id="3" name="Text 1"/>
          <p:cNvSpPr/>
          <p:nvPr/>
        </p:nvSpPr>
        <p:spPr>
          <a:xfrm>
            <a:off x="585216" y="6547104"/>
            <a:ext cx="2834640" cy="182880"/>
          </a:xfrm>
          <a:prstGeom prst="rect">
            <a:avLst/>
          </a:prstGeom>
          <a:noFill/>
          <a:ln/>
        </p:spPr>
        <p:txBody>
          <a:bodyPr wrap="square" lIns="0" tIns="0" rIns="0" bIns="0" rtlCol="0" anchor="ctr">
            <a:normAutofit/>
          </a:bodyPr>
          <a:lstStyle/>
          <a:p>
            <a:pPr marL="0" indent="0" algn="l">
              <a:buNone/>
            </a:pPr>
            <a:r>
              <a:rPr lang="en-US" sz="800" dirty="0">
                <a:solidFill>
                  <a:srgbClr val="64806B"/>
                </a:solidFill>
                <a:latin typeface="Avenir Next" pitchFamily="34" charset="0"/>
                <a:ea typeface="Avenir Next" pitchFamily="34" charset="-122"/>
                <a:cs typeface="Avenir Next" pitchFamily="34" charset="-120"/>
              </a:rPr>
              <a:t>SPROUT · MHACKS 2026</a:t>
            </a:r>
            <a:endParaRPr lang="en-US" sz="800" dirty="0"/>
          </a:p>
        </p:txBody>
      </p:sp>
      <p:sp>
        <p:nvSpPr>
          <p:cNvPr id="4" name="Text 2"/>
          <p:cNvSpPr/>
          <p:nvPr/>
        </p:nvSpPr>
        <p:spPr>
          <a:xfrm>
            <a:off x="11201400" y="6519672"/>
            <a:ext cx="365760" cy="182880"/>
          </a:xfrm>
          <a:prstGeom prst="rect">
            <a:avLst/>
          </a:prstGeom>
          <a:noFill/>
          <a:ln/>
        </p:spPr>
        <p:txBody>
          <a:bodyPr wrap="square" lIns="0" tIns="0" rIns="0" bIns="0" rtlCol="0" anchor="ctr">
            <a:normAutofit/>
          </a:bodyPr>
          <a:lstStyle/>
          <a:p>
            <a:pPr marL="0" indent="0" algn="r">
              <a:buNone/>
            </a:pPr>
            <a:r>
              <a:rPr lang="en-US" sz="800" dirty="0">
                <a:solidFill>
                  <a:srgbClr val="64806B"/>
                </a:solidFill>
                <a:latin typeface="Avenir Next" pitchFamily="34" charset="0"/>
                <a:ea typeface="Avenir Next" pitchFamily="34" charset="-122"/>
                <a:cs typeface="Avenir Next" pitchFamily="34" charset="-120"/>
              </a:rPr>
              <a:t>1</a:t>
            </a:r>
            <a:endParaRPr lang="en-US" sz="800" dirty="0"/>
          </a:p>
        </p:txBody>
      </p:sp>
      <p:pic>
        <p:nvPicPr>
          <p:cNvPr id="5" name="Image 0" descr="/Users/ashmith/sprout/web/public/leaf.png"/>
          <p:cNvPicPr>
            <a:picLocks noChangeAspect="1"/>
          </p:cNvPicPr>
          <p:nvPr/>
        </p:nvPicPr>
        <p:blipFill>
          <a:blip r:embed="rId3">
            <a:alphaModFix amt="92000"/>
          </a:blip>
          <a:stretch>
            <a:fillRect/>
          </a:stretch>
        </p:blipFill>
        <p:spPr>
          <a:xfrm rot="840000">
            <a:off x="9765792" y="-109728"/>
            <a:ext cx="2542032" cy="2542032"/>
          </a:xfrm>
          <a:prstGeom prst="rect">
            <a:avLst/>
          </a:prstGeom>
        </p:spPr>
      </p:pic>
      <p:pic>
        <p:nvPicPr>
          <p:cNvPr id="6" name="Image 1" descr="/Users/ashmith/sprout/web/public/leaf.png"/>
          <p:cNvPicPr>
            <a:picLocks noChangeAspect="1"/>
          </p:cNvPicPr>
          <p:nvPr/>
        </p:nvPicPr>
        <p:blipFill>
          <a:blip r:embed="rId3">
            <a:alphaModFix amt="38000"/>
          </a:blip>
          <a:stretch>
            <a:fillRect/>
          </a:stretch>
        </p:blipFill>
        <p:spPr>
          <a:xfrm rot="11700000">
            <a:off x="-109728" y="5010912"/>
            <a:ext cx="1938528" cy="1938528"/>
          </a:xfrm>
          <a:prstGeom prst="rect">
            <a:avLst/>
          </a:prstGeom>
        </p:spPr>
      </p:pic>
      <p:sp>
        <p:nvSpPr>
          <p:cNvPr id="7" name="Text 3"/>
          <p:cNvSpPr/>
          <p:nvPr/>
        </p:nvSpPr>
        <p:spPr>
          <a:xfrm>
            <a:off x="1243584" y="1938528"/>
            <a:ext cx="4023360" cy="1024128"/>
          </a:xfrm>
          <a:prstGeom prst="rect">
            <a:avLst/>
          </a:prstGeom>
          <a:noFill/>
          <a:ln/>
        </p:spPr>
        <p:txBody>
          <a:bodyPr wrap="square" lIns="0" tIns="0" rIns="0" bIns="0" rtlCol="0" anchor="ctr">
            <a:normAutofit/>
          </a:bodyPr>
          <a:lstStyle/>
          <a:p>
            <a:pPr marL="0" indent="0" algn="l">
              <a:buNone/>
            </a:pPr>
            <a:r>
              <a:rPr lang="en-US" sz="7400" dirty="0">
                <a:solidFill>
                  <a:srgbClr val="0B6122"/>
                </a:solidFill>
                <a:latin typeface="Instrument Serif" pitchFamily="34" charset="0"/>
                <a:ea typeface="Instrument Serif" pitchFamily="34" charset="-122"/>
                <a:cs typeface="Instrument Serif" pitchFamily="34" charset="-120"/>
              </a:rPr>
              <a:t>sprout</a:t>
            </a:r>
            <a:endParaRPr lang="en-US" sz="7400" dirty="0"/>
          </a:p>
        </p:txBody>
      </p:sp>
      <p:sp>
        <p:nvSpPr>
          <p:cNvPr id="8" name="Text 4"/>
          <p:cNvSpPr/>
          <p:nvPr/>
        </p:nvSpPr>
        <p:spPr>
          <a:xfrm>
            <a:off x="1307592" y="3310128"/>
            <a:ext cx="5212080" cy="960120"/>
          </a:xfrm>
          <a:prstGeom prst="rect">
            <a:avLst/>
          </a:prstGeom>
          <a:noFill/>
          <a:ln/>
        </p:spPr>
        <p:txBody>
          <a:bodyPr wrap="square" lIns="0" tIns="0" rIns="0" bIns="0" rtlCol="0" anchor="ctr">
            <a:normAutofit/>
          </a:bodyPr>
          <a:lstStyle/>
          <a:p>
            <a:pPr marL="0" indent="0" algn="l">
              <a:buNone/>
            </a:pPr>
            <a:r>
              <a:rPr lang="en-US" sz="2900" i="1" dirty="0">
                <a:solidFill>
                  <a:srgbClr val="083E17"/>
                </a:solidFill>
                <a:latin typeface="Instrument Serif" pitchFamily="34" charset="0"/>
                <a:ea typeface="Instrument Serif" pitchFamily="34" charset="-122"/>
                <a:cs typeface="Instrument Serif" pitchFamily="34" charset="-120"/>
              </a:rPr>
              <a:t>Remembers what you know.</a:t>
            </a:r>
            <a:endParaRPr lang="en-US" sz="2900" dirty="0"/>
          </a:p>
          <a:p>
            <a:pPr marL="0" indent="0" algn="l">
              <a:buNone/>
            </a:pPr>
            <a:r>
              <a:rPr lang="en-US" sz="2900" i="1" dirty="0">
                <a:solidFill>
                  <a:srgbClr val="083E17"/>
                </a:solidFill>
                <a:latin typeface="Instrument Serif" pitchFamily="34" charset="0"/>
                <a:ea typeface="Instrument Serif" pitchFamily="34" charset="-122"/>
                <a:cs typeface="Instrument Serif" pitchFamily="34" charset="-120"/>
              </a:rPr>
              <a:t>Grows as you do.</a:t>
            </a:r>
            <a:endParaRPr lang="en-US" sz="2900" dirty="0"/>
          </a:p>
        </p:txBody>
      </p:sp>
      <p:sp>
        <p:nvSpPr>
          <p:cNvPr id="9" name="Text 5"/>
          <p:cNvSpPr/>
          <p:nvPr/>
        </p:nvSpPr>
        <p:spPr>
          <a:xfrm>
            <a:off x="1325880" y="4590288"/>
            <a:ext cx="6309360" cy="384048"/>
          </a:xfrm>
          <a:prstGeom prst="rect">
            <a:avLst/>
          </a:prstGeom>
          <a:noFill/>
          <a:ln/>
        </p:spPr>
        <p:txBody>
          <a:bodyPr wrap="square" lIns="0" tIns="0" rIns="0" bIns="0" rtlCol="0" anchor="ctr">
            <a:normAutofit/>
          </a:bodyPr>
          <a:lstStyle/>
          <a:p>
            <a:pPr marL="0" indent="0" algn="l">
              <a:buNone/>
            </a:pPr>
            <a:r>
              <a:rPr lang="en-US" sz="1900" dirty="0">
                <a:solidFill>
                  <a:srgbClr val="20241F"/>
                </a:solidFill>
                <a:latin typeface="Avenir Next" pitchFamily="34" charset="0"/>
                <a:ea typeface="Avenir Next" pitchFamily="34" charset="-122"/>
                <a:cs typeface="Avenir Next" pitchFamily="34" charset="-120"/>
              </a:rPr>
              <a:t>An adaptive learning partner inside ASI:One</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EFE3"/>
        </a:solidFill>
        <a:effectLst/>
      </p:bgPr>
    </p:bg>
    <p:spTree>
      <p:nvGrpSpPr>
        <p:cNvPr id="1" name=""/>
        <p:cNvGrpSpPr/>
        <p:nvPr/>
      </p:nvGrpSpPr>
      <p:grpSpPr>
        <a:xfrm>
          <a:off x="0" y="0"/>
          <a:ext cx="0" cy="0"/>
          <a:chOff x="0" y="0"/>
          <a:chExt cx="0" cy="0"/>
        </a:xfrm>
      </p:grpSpPr>
      <p:sp>
        <p:nvSpPr>
          <p:cNvPr id="2" name="Shape 0"/>
          <p:cNvSpPr/>
          <p:nvPr/>
        </p:nvSpPr>
        <p:spPr>
          <a:xfrm>
            <a:off x="548640" y="6510528"/>
            <a:ext cx="11091672" cy="0"/>
          </a:xfrm>
          <a:prstGeom prst="line">
            <a:avLst/>
          </a:prstGeom>
          <a:noFill/>
          <a:ln w="12700">
            <a:solidFill>
              <a:srgbClr val="D8CDBE"/>
            </a:solidFill>
            <a:prstDash val="solid"/>
          </a:ln>
        </p:spPr>
        <p:txBody>
          <a:bodyPr/>
          <a:lstStyle/>
          <a:p>
            <a:endParaRPr lang="en-US"/>
          </a:p>
        </p:txBody>
      </p:sp>
      <p:sp>
        <p:nvSpPr>
          <p:cNvPr id="3" name="Text 1"/>
          <p:cNvSpPr/>
          <p:nvPr/>
        </p:nvSpPr>
        <p:spPr>
          <a:xfrm>
            <a:off x="585216" y="6547104"/>
            <a:ext cx="2834640" cy="182880"/>
          </a:xfrm>
          <a:prstGeom prst="rect">
            <a:avLst/>
          </a:prstGeom>
          <a:noFill/>
          <a:ln/>
        </p:spPr>
        <p:txBody>
          <a:bodyPr wrap="square" lIns="0" tIns="0" rIns="0" bIns="0" rtlCol="0" anchor="ctr">
            <a:normAutofit/>
          </a:bodyPr>
          <a:lstStyle/>
          <a:p>
            <a:pPr marL="0" indent="0" algn="l">
              <a:buNone/>
            </a:pPr>
            <a:r>
              <a:rPr lang="en-US" sz="800" dirty="0">
                <a:solidFill>
                  <a:srgbClr val="64806B"/>
                </a:solidFill>
                <a:latin typeface="Avenir Next" pitchFamily="34" charset="0"/>
                <a:ea typeface="Avenir Next" pitchFamily="34" charset="-122"/>
                <a:cs typeface="Avenir Next" pitchFamily="34" charset="-120"/>
              </a:rPr>
              <a:t>SPROUT · MHACKS 2026</a:t>
            </a:r>
            <a:endParaRPr lang="en-US" sz="800" dirty="0"/>
          </a:p>
        </p:txBody>
      </p:sp>
      <p:sp>
        <p:nvSpPr>
          <p:cNvPr id="4" name="Text 2"/>
          <p:cNvSpPr/>
          <p:nvPr/>
        </p:nvSpPr>
        <p:spPr>
          <a:xfrm>
            <a:off x="11201400" y="6519672"/>
            <a:ext cx="365760" cy="182880"/>
          </a:xfrm>
          <a:prstGeom prst="rect">
            <a:avLst/>
          </a:prstGeom>
          <a:noFill/>
          <a:ln/>
        </p:spPr>
        <p:txBody>
          <a:bodyPr wrap="square" lIns="0" tIns="0" rIns="0" bIns="0" rtlCol="0" anchor="ctr">
            <a:normAutofit/>
          </a:bodyPr>
          <a:lstStyle/>
          <a:p>
            <a:pPr marL="0" indent="0" algn="r">
              <a:buNone/>
            </a:pPr>
            <a:r>
              <a:rPr lang="en-US" sz="800" dirty="0">
                <a:solidFill>
                  <a:srgbClr val="64806B"/>
                </a:solidFill>
                <a:latin typeface="Avenir Next" pitchFamily="34" charset="0"/>
                <a:ea typeface="Avenir Next" pitchFamily="34" charset="-122"/>
                <a:cs typeface="Avenir Next" pitchFamily="34" charset="-120"/>
              </a:rPr>
              <a:t>2</a:t>
            </a:r>
            <a:endParaRPr lang="en-US" sz="800" dirty="0"/>
          </a:p>
        </p:txBody>
      </p:sp>
      <p:sp>
        <p:nvSpPr>
          <p:cNvPr id="5" name="Text 3"/>
          <p:cNvSpPr/>
          <p:nvPr/>
        </p:nvSpPr>
        <p:spPr>
          <a:xfrm>
            <a:off x="658368" y="384048"/>
            <a:ext cx="10789920" cy="585216"/>
          </a:xfrm>
          <a:prstGeom prst="rect">
            <a:avLst/>
          </a:prstGeom>
          <a:noFill/>
          <a:ln/>
        </p:spPr>
        <p:txBody>
          <a:bodyPr wrap="square" lIns="0" tIns="0" rIns="0" bIns="0" rtlCol="0" anchor="ctr">
            <a:normAutofit/>
          </a:bodyPr>
          <a:lstStyle/>
          <a:p>
            <a:pPr marL="0" indent="0" algn="l">
              <a:buNone/>
            </a:pPr>
            <a:r>
              <a:rPr lang="en-US" sz="3100" dirty="0">
                <a:solidFill>
                  <a:srgbClr val="083E17"/>
                </a:solidFill>
                <a:latin typeface="Instrument Serif" pitchFamily="34" charset="0"/>
                <a:ea typeface="Instrument Serif" pitchFamily="34" charset="-122"/>
                <a:cs typeface="Instrument Serif" pitchFamily="34" charset="-120"/>
              </a:rPr>
              <a:t>Five experiences. One learner model.</a:t>
            </a:r>
            <a:endParaRPr lang="en-US" sz="3100" dirty="0"/>
          </a:p>
        </p:txBody>
      </p:sp>
      <p:sp>
        <p:nvSpPr>
          <p:cNvPr id="6" name="Text 4"/>
          <p:cNvSpPr/>
          <p:nvPr/>
        </p:nvSpPr>
        <p:spPr>
          <a:xfrm>
            <a:off x="685800" y="969264"/>
            <a:ext cx="10515600" cy="292608"/>
          </a:xfrm>
          <a:prstGeom prst="rect">
            <a:avLst/>
          </a:prstGeom>
          <a:noFill/>
          <a:ln/>
        </p:spPr>
        <p:txBody>
          <a:bodyPr wrap="square" lIns="0" tIns="0" rIns="0" bIns="0" rtlCol="0" anchor="ctr">
            <a:normAutofit/>
          </a:bodyPr>
          <a:lstStyle/>
          <a:p>
            <a:pPr marL="0" indent="0" algn="l">
              <a:buNone/>
            </a:pPr>
            <a:r>
              <a:rPr lang="en-US" sz="1300" dirty="0">
                <a:solidFill>
                  <a:srgbClr val="4E8A5E"/>
                </a:solidFill>
                <a:latin typeface="Avenir Next" pitchFamily="34" charset="0"/>
                <a:ea typeface="Avenir Next" pitchFamily="34" charset="-122"/>
                <a:cs typeface="Avenir Next" pitchFamily="34" charset="-120"/>
              </a:rPr>
              <a:t>Sprout routes the student; every surface reads and writes the same course state.</a:t>
            </a:r>
            <a:endParaRPr lang="en-US" sz="1300" dirty="0"/>
          </a:p>
        </p:txBody>
      </p:sp>
      <p:sp>
        <p:nvSpPr>
          <p:cNvPr id="7" name="Shape 5"/>
          <p:cNvSpPr/>
          <p:nvPr/>
        </p:nvSpPr>
        <p:spPr>
          <a:xfrm>
            <a:off x="4645152" y="2395728"/>
            <a:ext cx="2880360" cy="1225296"/>
          </a:xfrm>
          <a:prstGeom prst="roundRect">
            <a:avLst>
              <a:gd name="adj" fmla="val 8955"/>
            </a:avLst>
          </a:prstGeom>
          <a:solidFill>
            <a:srgbClr val="083E17"/>
          </a:solidFill>
          <a:ln w="12700">
            <a:solidFill>
              <a:srgbClr val="083E17"/>
            </a:solidFill>
            <a:prstDash val="solid"/>
          </a:ln>
        </p:spPr>
        <p:txBody>
          <a:bodyPr/>
          <a:lstStyle/>
          <a:p>
            <a:endParaRPr lang="en-US"/>
          </a:p>
        </p:txBody>
      </p:sp>
      <p:sp>
        <p:nvSpPr>
          <p:cNvPr id="8" name="Text 6"/>
          <p:cNvSpPr/>
          <p:nvPr/>
        </p:nvSpPr>
        <p:spPr>
          <a:xfrm>
            <a:off x="4873752" y="2596896"/>
            <a:ext cx="2423160" cy="347472"/>
          </a:xfrm>
          <a:prstGeom prst="rect">
            <a:avLst/>
          </a:prstGeom>
          <a:noFill/>
          <a:ln/>
        </p:spPr>
        <p:txBody>
          <a:bodyPr wrap="square" lIns="0" tIns="0" rIns="0" bIns="0" rtlCol="0" anchor="ctr">
            <a:normAutofit/>
          </a:bodyPr>
          <a:lstStyle/>
          <a:p>
            <a:pPr marL="0" indent="0" algn="ctr">
              <a:buNone/>
            </a:pPr>
            <a:r>
              <a:rPr lang="en-US" sz="2500" dirty="0">
                <a:solidFill>
                  <a:srgbClr val="FFFDFC"/>
                </a:solidFill>
                <a:latin typeface="Instrument Serif" pitchFamily="34" charset="0"/>
                <a:ea typeface="Instrument Serif" pitchFamily="34" charset="-122"/>
                <a:cs typeface="Instrument Serif" pitchFamily="34" charset="-120"/>
              </a:rPr>
              <a:t>SPROUT</a:t>
            </a:r>
            <a:endParaRPr lang="en-US" sz="2500" dirty="0"/>
          </a:p>
        </p:txBody>
      </p:sp>
      <p:sp>
        <p:nvSpPr>
          <p:cNvPr id="9" name="Text 7"/>
          <p:cNvSpPr/>
          <p:nvPr/>
        </p:nvSpPr>
        <p:spPr>
          <a:xfrm>
            <a:off x="4892040" y="3017520"/>
            <a:ext cx="2395728" cy="219456"/>
          </a:xfrm>
          <a:prstGeom prst="rect">
            <a:avLst/>
          </a:prstGeom>
          <a:noFill/>
          <a:ln/>
        </p:spPr>
        <p:txBody>
          <a:bodyPr wrap="square" lIns="0" tIns="0" rIns="0" bIns="0" rtlCol="0" anchor="ctr">
            <a:normAutofit/>
          </a:bodyPr>
          <a:lstStyle/>
          <a:p>
            <a:pPr marL="0" indent="0" algn="ctr">
              <a:buNone/>
            </a:pPr>
            <a:r>
              <a:rPr lang="en-US" sz="1000" dirty="0">
                <a:solidFill>
                  <a:srgbClr val="DDEBD7"/>
                </a:solidFill>
                <a:latin typeface="Avenir Next" pitchFamily="34" charset="0"/>
                <a:ea typeface="Avenir Next" pitchFamily="34" charset="-122"/>
                <a:cs typeface="Avenir Next" pitchFamily="34" charset="-120"/>
              </a:rPr>
              <a:t>orchestrator + shared memory</a:t>
            </a:r>
            <a:endParaRPr lang="en-US" sz="1000" dirty="0"/>
          </a:p>
        </p:txBody>
      </p:sp>
      <p:sp>
        <p:nvSpPr>
          <p:cNvPr id="10" name="Shape 8"/>
          <p:cNvSpPr/>
          <p:nvPr/>
        </p:nvSpPr>
        <p:spPr>
          <a:xfrm>
            <a:off x="749808" y="1517904"/>
            <a:ext cx="2240280" cy="822960"/>
          </a:xfrm>
          <a:prstGeom prst="roundRect">
            <a:avLst>
              <a:gd name="adj" fmla="val 13333"/>
            </a:avLst>
          </a:prstGeom>
          <a:solidFill>
            <a:srgbClr val="FFFDFC"/>
          </a:solidFill>
          <a:ln w="12700">
            <a:solidFill>
              <a:srgbClr val="4E8A5E"/>
            </a:solidFill>
            <a:prstDash val="solid"/>
          </a:ln>
        </p:spPr>
        <p:txBody>
          <a:bodyPr/>
          <a:lstStyle/>
          <a:p>
            <a:endParaRPr lang="en-US"/>
          </a:p>
        </p:txBody>
      </p:sp>
      <p:sp>
        <p:nvSpPr>
          <p:cNvPr id="11" name="Text 9"/>
          <p:cNvSpPr/>
          <p:nvPr/>
        </p:nvSpPr>
        <p:spPr>
          <a:xfrm>
            <a:off x="841248" y="1609344"/>
            <a:ext cx="2057400" cy="246888"/>
          </a:xfrm>
          <a:prstGeom prst="rect">
            <a:avLst/>
          </a:prstGeom>
          <a:noFill/>
          <a:ln/>
        </p:spPr>
        <p:txBody>
          <a:bodyPr wrap="square" lIns="0" tIns="0" rIns="0" bIns="0" rtlCol="0" anchor="ctr">
            <a:normAutofit/>
          </a:bodyPr>
          <a:lstStyle/>
          <a:p>
            <a:pPr marL="0" indent="0" algn="ctr">
              <a:buNone/>
            </a:pPr>
            <a:r>
              <a:rPr lang="en-US" sz="1800" dirty="0">
                <a:solidFill>
                  <a:srgbClr val="083E17"/>
                </a:solidFill>
                <a:latin typeface="Instrument Serif" pitchFamily="34" charset="0"/>
                <a:ea typeface="Instrument Serif" pitchFamily="34" charset="-122"/>
                <a:cs typeface="Instrument Serif" pitchFamily="34" charset="-120"/>
              </a:rPr>
              <a:t>CURRICULUM</a:t>
            </a:r>
            <a:endParaRPr lang="en-US" sz="1800" dirty="0"/>
          </a:p>
        </p:txBody>
      </p:sp>
      <p:sp>
        <p:nvSpPr>
          <p:cNvPr id="12" name="Text 10"/>
          <p:cNvSpPr/>
          <p:nvPr/>
        </p:nvSpPr>
        <p:spPr>
          <a:xfrm>
            <a:off x="841248" y="1901952"/>
            <a:ext cx="2057400" cy="192024"/>
          </a:xfrm>
          <a:prstGeom prst="rect">
            <a:avLst/>
          </a:prstGeom>
          <a:noFill/>
          <a:ln/>
        </p:spPr>
        <p:txBody>
          <a:bodyPr wrap="square" lIns="0" tIns="0" rIns="0" bIns="0" rtlCol="0" anchor="ctr">
            <a:normAutofit/>
          </a:bodyPr>
          <a:lstStyle/>
          <a:p>
            <a:pPr marL="0" indent="0" algn="ctr">
              <a:buNone/>
            </a:pPr>
            <a:r>
              <a:rPr lang="en-US" sz="900" dirty="0">
                <a:solidFill>
                  <a:srgbClr val="4E8A5E"/>
                </a:solidFill>
                <a:latin typeface="Avenir Next" pitchFamily="34" charset="0"/>
                <a:ea typeface="Avenir Next" pitchFamily="34" charset="-122"/>
                <a:cs typeface="Avenir Next" pitchFamily="34" charset="-120"/>
              </a:rPr>
              <a:t>syllabus → concept graph</a:t>
            </a:r>
            <a:endParaRPr lang="en-US" sz="900" dirty="0"/>
          </a:p>
        </p:txBody>
      </p:sp>
      <p:sp>
        <p:nvSpPr>
          <p:cNvPr id="13" name="Shape 11"/>
          <p:cNvSpPr/>
          <p:nvPr/>
        </p:nvSpPr>
        <p:spPr>
          <a:xfrm>
            <a:off x="749808" y="4242816"/>
            <a:ext cx="2240280" cy="822960"/>
          </a:xfrm>
          <a:prstGeom prst="roundRect">
            <a:avLst>
              <a:gd name="adj" fmla="val 13333"/>
            </a:avLst>
          </a:prstGeom>
          <a:solidFill>
            <a:srgbClr val="F0F6ED"/>
          </a:solidFill>
          <a:ln w="12700">
            <a:solidFill>
              <a:srgbClr val="4E8A5E"/>
            </a:solidFill>
            <a:prstDash val="solid"/>
          </a:ln>
        </p:spPr>
        <p:txBody>
          <a:bodyPr/>
          <a:lstStyle/>
          <a:p>
            <a:endParaRPr lang="en-US"/>
          </a:p>
        </p:txBody>
      </p:sp>
      <p:sp>
        <p:nvSpPr>
          <p:cNvPr id="14" name="Text 12"/>
          <p:cNvSpPr/>
          <p:nvPr/>
        </p:nvSpPr>
        <p:spPr>
          <a:xfrm>
            <a:off x="841248" y="4334256"/>
            <a:ext cx="2057400" cy="246888"/>
          </a:xfrm>
          <a:prstGeom prst="rect">
            <a:avLst/>
          </a:prstGeom>
          <a:noFill/>
          <a:ln/>
        </p:spPr>
        <p:txBody>
          <a:bodyPr wrap="square" lIns="0" tIns="0" rIns="0" bIns="0" rtlCol="0" anchor="ctr">
            <a:normAutofit/>
          </a:bodyPr>
          <a:lstStyle/>
          <a:p>
            <a:pPr marL="0" indent="0" algn="ctr">
              <a:buNone/>
            </a:pPr>
            <a:r>
              <a:rPr lang="en-US" sz="1800" dirty="0">
                <a:solidFill>
                  <a:srgbClr val="083E17"/>
                </a:solidFill>
                <a:latin typeface="Instrument Serif" pitchFamily="34" charset="0"/>
                <a:ea typeface="Instrument Serif" pitchFamily="34" charset="-122"/>
                <a:cs typeface="Instrument Serif" pitchFamily="34" charset="-120"/>
              </a:rPr>
              <a:t>LEARN</a:t>
            </a:r>
            <a:endParaRPr lang="en-US" sz="1800" dirty="0"/>
          </a:p>
        </p:txBody>
      </p:sp>
      <p:sp>
        <p:nvSpPr>
          <p:cNvPr id="15" name="Text 13"/>
          <p:cNvSpPr/>
          <p:nvPr/>
        </p:nvSpPr>
        <p:spPr>
          <a:xfrm>
            <a:off x="841248" y="4626864"/>
            <a:ext cx="2057400" cy="192024"/>
          </a:xfrm>
          <a:prstGeom prst="rect">
            <a:avLst/>
          </a:prstGeom>
          <a:noFill/>
          <a:ln/>
        </p:spPr>
        <p:txBody>
          <a:bodyPr wrap="square" lIns="0" tIns="0" rIns="0" bIns="0" rtlCol="0" anchor="ctr">
            <a:normAutofit/>
          </a:bodyPr>
          <a:lstStyle/>
          <a:p>
            <a:pPr marL="0" indent="0" algn="ctr">
              <a:buNone/>
            </a:pPr>
            <a:r>
              <a:rPr lang="en-US" sz="900" dirty="0">
                <a:solidFill>
                  <a:srgbClr val="4E8A5E"/>
                </a:solidFill>
                <a:latin typeface="Avenir Next" pitchFamily="34" charset="0"/>
                <a:ea typeface="Avenir Next" pitchFamily="34" charset="-122"/>
                <a:cs typeface="Avenir Next" pitchFamily="34" charset="-120"/>
              </a:rPr>
              <a:t>next action across courses</a:t>
            </a:r>
            <a:endParaRPr lang="en-US" sz="900" dirty="0"/>
          </a:p>
        </p:txBody>
      </p:sp>
      <p:sp>
        <p:nvSpPr>
          <p:cNvPr id="16" name="Shape 14"/>
          <p:cNvSpPr/>
          <p:nvPr/>
        </p:nvSpPr>
        <p:spPr>
          <a:xfrm>
            <a:off x="9189720" y="1517904"/>
            <a:ext cx="2240280" cy="822960"/>
          </a:xfrm>
          <a:prstGeom prst="roundRect">
            <a:avLst>
              <a:gd name="adj" fmla="val 13333"/>
            </a:avLst>
          </a:prstGeom>
          <a:solidFill>
            <a:srgbClr val="FFFDFC"/>
          </a:solidFill>
          <a:ln w="12700">
            <a:solidFill>
              <a:srgbClr val="4E8A5E"/>
            </a:solidFill>
            <a:prstDash val="solid"/>
          </a:ln>
        </p:spPr>
        <p:txBody>
          <a:bodyPr/>
          <a:lstStyle/>
          <a:p>
            <a:endParaRPr lang="en-US"/>
          </a:p>
        </p:txBody>
      </p:sp>
      <p:sp>
        <p:nvSpPr>
          <p:cNvPr id="17" name="Text 15"/>
          <p:cNvSpPr/>
          <p:nvPr/>
        </p:nvSpPr>
        <p:spPr>
          <a:xfrm>
            <a:off x="9281160" y="1609344"/>
            <a:ext cx="2057400" cy="246888"/>
          </a:xfrm>
          <a:prstGeom prst="rect">
            <a:avLst/>
          </a:prstGeom>
          <a:noFill/>
          <a:ln/>
        </p:spPr>
        <p:txBody>
          <a:bodyPr wrap="square" lIns="0" tIns="0" rIns="0" bIns="0" rtlCol="0" anchor="ctr">
            <a:normAutofit/>
          </a:bodyPr>
          <a:lstStyle/>
          <a:p>
            <a:pPr marL="0" indent="0" algn="ctr">
              <a:buNone/>
            </a:pPr>
            <a:r>
              <a:rPr lang="en-US" sz="1800" dirty="0">
                <a:solidFill>
                  <a:srgbClr val="083E17"/>
                </a:solidFill>
                <a:latin typeface="Instrument Serif" pitchFamily="34" charset="0"/>
                <a:ea typeface="Instrument Serif" pitchFamily="34" charset="-122"/>
                <a:cs typeface="Instrument Serif" pitchFamily="34" charset="-120"/>
              </a:rPr>
              <a:t>TUTOR</a:t>
            </a:r>
            <a:endParaRPr lang="en-US" sz="1800" dirty="0"/>
          </a:p>
        </p:txBody>
      </p:sp>
      <p:sp>
        <p:nvSpPr>
          <p:cNvPr id="18" name="Text 16"/>
          <p:cNvSpPr/>
          <p:nvPr/>
        </p:nvSpPr>
        <p:spPr>
          <a:xfrm>
            <a:off x="9281160" y="1901952"/>
            <a:ext cx="2057400" cy="192024"/>
          </a:xfrm>
          <a:prstGeom prst="rect">
            <a:avLst/>
          </a:prstGeom>
          <a:noFill/>
          <a:ln/>
        </p:spPr>
        <p:txBody>
          <a:bodyPr wrap="square" lIns="0" tIns="0" rIns="0" bIns="0" rtlCol="0" anchor="ctr">
            <a:normAutofit/>
          </a:bodyPr>
          <a:lstStyle/>
          <a:p>
            <a:pPr marL="0" indent="0" algn="ctr">
              <a:buNone/>
            </a:pPr>
            <a:r>
              <a:rPr lang="en-US" sz="900" dirty="0">
                <a:solidFill>
                  <a:srgbClr val="4E8A5E"/>
                </a:solidFill>
                <a:latin typeface="Avenir Next" pitchFamily="34" charset="0"/>
                <a:ea typeface="Avenir Next" pitchFamily="34" charset="-122"/>
                <a:cs typeface="Avenir Next" pitchFamily="34" charset="-120"/>
              </a:rPr>
              <a:t>lesson → check → adapt</a:t>
            </a:r>
            <a:endParaRPr lang="en-US" sz="900" dirty="0"/>
          </a:p>
        </p:txBody>
      </p:sp>
      <p:sp>
        <p:nvSpPr>
          <p:cNvPr id="19" name="Shape 17"/>
          <p:cNvSpPr/>
          <p:nvPr/>
        </p:nvSpPr>
        <p:spPr>
          <a:xfrm>
            <a:off x="9189720" y="4242816"/>
            <a:ext cx="2240280" cy="822960"/>
          </a:xfrm>
          <a:prstGeom prst="roundRect">
            <a:avLst>
              <a:gd name="adj" fmla="val 13333"/>
            </a:avLst>
          </a:prstGeom>
          <a:solidFill>
            <a:srgbClr val="F0F6ED"/>
          </a:solidFill>
          <a:ln w="12700">
            <a:solidFill>
              <a:srgbClr val="4E8A5E"/>
            </a:solidFill>
            <a:prstDash val="solid"/>
          </a:ln>
        </p:spPr>
        <p:txBody>
          <a:bodyPr/>
          <a:lstStyle/>
          <a:p>
            <a:endParaRPr lang="en-US"/>
          </a:p>
        </p:txBody>
      </p:sp>
      <p:sp>
        <p:nvSpPr>
          <p:cNvPr id="20" name="Text 18"/>
          <p:cNvSpPr/>
          <p:nvPr/>
        </p:nvSpPr>
        <p:spPr>
          <a:xfrm>
            <a:off x="9281160" y="4334256"/>
            <a:ext cx="2057400" cy="246888"/>
          </a:xfrm>
          <a:prstGeom prst="rect">
            <a:avLst/>
          </a:prstGeom>
          <a:noFill/>
          <a:ln/>
        </p:spPr>
        <p:txBody>
          <a:bodyPr wrap="square" lIns="0" tIns="0" rIns="0" bIns="0" rtlCol="0" anchor="ctr">
            <a:normAutofit/>
          </a:bodyPr>
          <a:lstStyle/>
          <a:p>
            <a:pPr marL="0" indent="0" algn="ctr">
              <a:buNone/>
            </a:pPr>
            <a:r>
              <a:rPr lang="en-US" sz="1800" dirty="0">
                <a:solidFill>
                  <a:srgbClr val="083E17"/>
                </a:solidFill>
                <a:latin typeface="Instrument Serif" pitchFamily="34" charset="0"/>
                <a:ea typeface="Instrument Serif" pitchFamily="34" charset="-122"/>
                <a:cs typeface="Instrument Serif" pitchFamily="34" charset="-120"/>
              </a:rPr>
              <a:t>GARDEN</a:t>
            </a:r>
            <a:endParaRPr lang="en-US" sz="1800" dirty="0"/>
          </a:p>
        </p:txBody>
      </p:sp>
      <p:sp>
        <p:nvSpPr>
          <p:cNvPr id="21" name="Text 19"/>
          <p:cNvSpPr/>
          <p:nvPr/>
        </p:nvSpPr>
        <p:spPr>
          <a:xfrm>
            <a:off x="9281160" y="4626864"/>
            <a:ext cx="2057400" cy="192024"/>
          </a:xfrm>
          <a:prstGeom prst="rect">
            <a:avLst/>
          </a:prstGeom>
          <a:noFill/>
          <a:ln/>
        </p:spPr>
        <p:txBody>
          <a:bodyPr wrap="square" lIns="0" tIns="0" rIns="0" bIns="0" rtlCol="0" anchor="ctr">
            <a:normAutofit/>
          </a:bodyPr>
          <a:lstStyle/>
          <a:p>
            <a:pPr marL="0" indent="0" algn="ctr">
              <a:buNone/>
            </a:pPr>
            <a:r>
              <a:rPr lang="en-US" sz="900" dirty="0">
                <a:solidFill>
                  <a:srgbClr val="4E8A5E"/>
                </a:solidFill>
                <a:latin typeface="Avenir Next" pitchFamily="34" charset="0"/>
                <a:ea typeface="Avenir Next" pitchFamily="34" charset="-122"/>
                <a:cs typeface="Avenir Next" pitchFamily="34" charset="-120"/>
              </a:rPr>
              <a:t>mastery made visible</a:t>
            </a:r>
            <a:endParaRPr lang="en-US" sz="900" dirty="0"/>
          </a:p>
        </p:txBody>
      </p:sp>
      <p:sp>
        <p:nvSpPr>
          <p:cNvPr id="22" name="Shape 20"/>
          <p:cNvSpPr/>
          <p:nvPr/>
        </p:nvSpPr>
        <p:spPr>
          <a:xfrm>
            <a:off x="5065776" y="5175504"/>
            <a:ext cx="2240280" cy="822960"/>
          </a:xfrm>
          <a:prstGeom prst="roundRect">
            <a:avLst>
              <a:gd name="adj" fmla="val 13333"/>
            </a:avLst>
          </a:prstGeom>
          <a:solidFill>
            <a:srgbClr val="FFF7E7"/>
          </a:solidFill>
          <a:ln w="12700">
            <a:solidFill>
              <a:srgbClr val="4E8A5E"/>
            </a:solidFill>
            <a:prstDash val="solid"/>
          </a:ln>
        </p:spPr>
        <p:txBody>
          <a:bodyPr/>
          <a:lstStyle/>
          <a:p>
            <a:endParaRPr lang="en-US"/>
          </a:p>
        </p:txBody>
      </p:sp>
      <p:sp>
        <p:nvSpPr>
          <p:cNvPr id="23" name="Text 21"/>
          <p:cNvSpPr/>
          <p:nvPr/>
        </p:nvSpPr>
        <p:spPr>
          <a:xfrm>
            <a:off x="5157216" y="5266944"/>
            <a:ext cx="2057400" cy="246888"/>
          </a:xfrm>
          <a:prstGeom prst="rect">
            <a:avLst/>
          </a:prstGeom>
          <a:noFill/>
          <a:ln/>
        </p:spPr>
        <p:txBody>
          <a:bodyPr wrap="square" lIns="0" tIns="0" rIns="0" bIns="0" rtlCol="0" anchor="ctr">
            <a:normAutofit/>
          </a:bodyPr>
          <a:lstStyle/>
          <a:p>
            <a:pPr marL="0" indent="0" algn="ctr">
              <a:buNone/>
            </a:pPr>
            <a:r>
              <a:rPr lang="en-US" sz="1800" dirty="0">
                <a:solidFill>
                  <a:srgbClr val="083E17"/>
                </a:solidFill>
                <a:latin typeface="Instrument Serif" pitchFamily="34" charset="0"/>
                <a:ea typeface="Instrument Serif" pitchFamily="34" charset="-122"/>
                <a:cs typeface="Instrument Serif" pitchFamily="34" charset="-120"/>
              </a:rPr>
              <a:t>ARCADE</a:t>
            </a:r>
            <a:endParaRPr lang="en-US" sz="1800" dirty="0"/>
          </a:p>
        </p:txBody>
      </p:sp>
      <p:sp>
        <p:nvSpPr>
          <p:cNvPr id="24" name="Text 22"/>
          <p:cNvSpPr/>
          <p:nvPr/>
        </p:nvSpPr>
        <p:spPr>
          <a:xfrm>
            <a:off x="5157216" y="5559552"/>
            <a:ext cx="2057400" cy="192024"/>
          </a:xfrm>
          <a:prstGeom prst="rect">
            <a:avLst/>
          </a:prstGeom>
          <a:noFill/>
          <a:ln/>
        </p:spPr>
        <p:txBody>
          <a:bodyPr wrap="square" lIns="0" tIns="0" rIns="0" bIns="0" rtlCol="0" anchor="ctr">
            <a:normAutofit/>
          </a:bodyPr>
          <a:lstStyle/>
          <a:p>
            <a:pPr marL="0" indent="0" algn="ctr">
              <a:buNone/>
            </a:pPr>
            <a:r>
              <a:rPr lang="en-US" sz="900" dirty="0">
                <a:solidFill>
                  <a:srgbClr val="4E8A5E"/>
                </a:solidFill>
                <a:latin typeface="Avenir Next" pitchFamily="34" charset="0"/>
                <a:ea typeface="Avenir Next" pitchFamily="34" charset="-122"/>
                <a:cs typeface="Avenir Next" pitchFamily="34" charset="-120"/>
              </a:rPr>
              <a:t>shared practice</a:t>
            </a:r>
            <a:endParaRPr lang="en-US" sz="900" dirty="0"/>
          </a:p>
        </p:txBody>
      </p:sp>
      <p:sp>
        <p:nvSpPr>
          <p:cNvPr id="25" name="Shape 23"/>
          <p:cNvSpPr/>
          <p:nvPr/>
        </p:nvSpPr>
        <p:spPr>
          <a:xfrm>
            <a:off x="3063240" y="1920240"/>
            <a:ext cx="1527048" cy="786384"/>
          </a:xfrm>
          <a:prstGeom prst="line">
            <a:avLst/>
          </a:prstGeom>
          <a:noFill/>
          <a:ln w="25400">
            <a:solidFill>
              <a:srgbClr val="4E8A5E"/>
            </a:solidFill>
            <a:prstDash val="solid"/>
            <a:headEnd type="none"/>
            <a:tailEnd type="triangle"/>
          </a:ln>
        </p:spPr>
        <p:txBody>
          <a:bodyPr/>
          <a:lstStyle/>
          <a:p>
            <a:endParaRPr lang="en-US"/>
          </a:p>
        </p:txBody>
      </p:sp>
      <p:sp>
        <p:nvSpPr>
          <p:cNvPr id="26" name="Shape 24"/>
          <p:cNvSpPr/>
          <p:nvPr/>
        </p:nvSpPr>
        <p:spPr>
          <a:xfrm>
            <a:off x="3063240" y="4572000"/>
            <a:ext cx="1527048" cy="0"/>
          </a:xfrm>
          <a:prstGeom prst="line">
            <a:avLst/>
          </a:prstGeom>
          <a:noFill/>
          <a:ln w="25400">
            <a:solidFill>
              <a:srgbClr val="4E8A5E"/>
            </a:solidFill>
            <a:prstDash val="solid"/>
            <a:headEnd type="none"/>
            <a:tailEnd type="triangle"/>
          </a:ln>
        </p:spPr>
        <p:txBody>
          <a:bodyPr/>
          <a:lstStyle/>
          <a:p>
            <a:endParaRPr lang="en-US"/>
          </a:p>
        </p:txBody>
      </p:sp>
      <p:sp>
        <p:nvSpPr>
          <p:cNvPr id="27" name="Shape 25"/>
          <p:cNvSpPr/>
          <p:nvPr/>
        </p:nvSpPr>
        <p:spPr>
          <a:xfrm>
            <a:off x="9125712" y="1920240"/>
            <a:ext cx="0" cy="786384"/>
          </a:xfrm>
          <a:prstGeom prst="line">
            <a:avLst/>
          </a:prstGeom>
          <a:noFill/>
          <a:ln w="25400">
            <a:solidFill>
              <a:srgbClr val="4E8A5E"/>
            </a:solidFill>
            <a:prstDash val="solid"/>
            <a:headEnd type="none"/>
            <a:tailEnd type="triangle"/>
          </a:ln>
        </p:spPr>
        <p:txBody>
          <a:bodyPr/>
          <a:lstStyle/>
          <a:p>
            <a:endParaRPr lang="en-US"/>
          </a:p>
        </p:txBody>
      </p:sp>
      <p:sp>
        <p:nvSpPr>
          <p:cNvPr id="28" name="Shape 26"/>
          <p:cNvSpPr/>
          <p:nvPr/>
        </p:nvSpPr>
        <p:spPr>
          <a:xfrm>
            <a:off x="9125712" y="4572000"/>
            <a:ext cx="0" cy="0"/>
          </a:xfrm>
          <a:prstGeom prst="line">
            <a:avLst/>
          </a:prstGeom>
          <a:noFill/>
          <a:ln w="25400">
            <a:solidFill>
              <a:srgbClr val="4E8A5E"/>
            </a:solidFill>
            <a:prstDash val="solid"/>
            <a:headEnd type="none"/>
            <a:tailEnd type="triangle"/>
          </a:ln>
        </p:spPr>
        <p:txBody>
          <a:bodyPr/>
          <a:lstStyle/>
          <a:p>
            <a:endParaRPr lang="en-US"/>
          </a:p>
        </p:txBody>
      </p:sp>
      <p:sp>
        <p:nvSpPr>
          <p:cNvPr id="29" name="Shape 27"/>
          <p:cNvSpPr/>
          <p:nvPr/>
        </p:nvSpPr>
        <p:spPr>
          <a:xfrm>
            <a:off x="6190488" y="5129784"/>
            <a:ext cx="0" cy="0"/>
          </a:xfrm>
          <a:prstGeom prst="line">
            <a:avLst/>
          </a:prstGeom>
          <a:noFill/>
          <a:ln w="31750">
            <a:solidFill>
              <a:srgbClr val="E5B75A"/>
            </a:solidFill>
            <a:prstDash val="solid"/>
            <a:headEnd type="none"/>
            <a:tailEnd type="triangle"/>
          </a:ln>
        </p:spPr>
        <p:txBody>
          <a:bodyPr/>
          <a:lstStyle/>
          <a:p>
            <a:endParaRPr lang="en-US"/>
          </a:p>
        </p:txBody>
      </p:sp>
      <p:sp>
        <p:nvSpPr>
          <p:cNvPr id="30" name="Shape 28"/>
          <p:cNvSpPr/>
          <p:nvPr/>
        </p:nvSpPr>
        <p:spPr>
          <a:xfrm>
            <a:off x="4727448" y="4050792"/>
            <a:ext cx="2724912" cy="310896"/>
          </a:xfrm>
          <a:prstGeom prst="roundRect">
            <a:avLst>
              <a:gd name="adj" fmla="val 50000"/>
            </a:avLst>
          </a:prstGeom>
          <a:solidFill>
            <a:srgbClr val="DDEBD7"/>
          </a:solidFill>
          <a:ln w="12700">
            <a:solidFill>
              <a:srgbClr val="DDEBD7"/>
            </a:solidFill>
            <a:prstDash val="solid"/>
          </a:ln>
        </p:spPr>
        <p:txBody>
          <a:bodyPr/>
          <a:lstStyle/>
          <a:p>
            <a:endParaRPr lang="en-US"/>
          </a:p>
        </p:txBody>
      </p:sp>
      <p:sp>
        <p:nvSpPr>
          <p:cNvPr id="31" name="Text 29"/>
          <p:cNvSpPr/>
          <p:nvPr/>
        </p:nvSpPr>
        <p:spPr>
          <a:xfrm>
            <a:off x="4791456" y="4069080"/>
            <a:ext cx="2596896" cy="256032"/>
          </a:xfrm>
          <a:prstGeom prst="rect">
            <a:avLst/>
          </a:prstGeom>
          <a:noFill/>
          <a:ln/>
        </p:spPr>
        <p:txBody>
          <a:bodyPr wrap="square" lIns="0" tIns="0" rIns="0" bIns="0" rtlCol="0" anchor="ctr">
            <a:normAutofit/>
          </a:bodyPr>
          <a:lstStyle/>
          <a:p>
            <a:pPr marL="0" indent="0" algn="ctr">
              <a:buNone/>
            </a:pPr>
            <a:r>
              <a:rPr lang="en-US" sz="1000" b="1" dirty="0">
                <a:solidFill>
                  <a:srgbClr val="083E17"/>
                </a:solidFill>
                <a:latin typeface="Avenir Next" pitchFamily="34" charset="0"/>
                <a:ea typeface="Avenir Next" pitchFamily="34" charset="-122"/>
                <a:cs typeface="Avenir Next" pitchFamily="34" charset="-120"/>
              </a:rPr>
              <a:t>persistent learner state</a:t>
            </a:r>
            <a:endParaRPr lang="en-US" sz="1000" dirty="0"/>
          </a:p>
        </p:txBody>
      </p:sp>
      <p:sp>
        <p:nvSpPr>
          <p:cNvPr id="32" name="Text 30"/>
          <p:cNvSpPr/>
          <p:nvPr/>
        </p:nvSpPr>
        <p:spPr>
          <a:xfrm>
            <a:off x="1965960" y="6144768"/>
            <a:ext cx="8275320" cy="256032"/>
          </a:xfrm>
          <a:prstGeom prst="rect">
            <a:avLst/>
          </a:prstGeom>
          <a:noFill/>
          <a:ln/>
        </p:spPr>
        <p:txBody>
          <a:bodyPr wrap="square" lIns="0" tIns="0" rIns="0" bIns="0" rtlCol="0" anchor="ctr">
            <a:normAutofit/>
          </a:bodyPr>
          <a:lstStyle/>
          <a:p>
            <a:pPr marL="0" indent="0" algn="ctr">
              <a:buNone/>
            </a:pPr>
            <a:r>
              <a:rPr lang="en-US" sz="1400" b="1" dirty="0">
                <a:solidFill>
                  <a:srgbClr val="083E17"/>
                </a:solidFill>
                <a:latin typeface="Avenir Next" pitchFamily="34" charset="0"/>
                <a:ea typeface="Avenir Next" pitchFamily="34" charset="-122"/>
                <a:cs typeface="Avenir Next" pitchFamily="34" charset="-120"/>
              </a:rPr>
              <a:t>A result in Tutor or Arcade changes what Learn recommends and what Garden shows.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EFE3"/>
        </a:solidFill>
        <a:effectLst/>
      </p:bgPr>
    </p:bg>
    <p:spTree>
      <p:nvGrpSpPr>
        <p:cNvPr id="1" name=""/>
        <p:cNvGrpSpPr/>
        <p:nvPr/>
      </p:nvGrpSpPr>
      <p:grpSpPr>
        <a:xfrm>
          <a:off x="0" y="0"/>
          <a:ext cx="0" cy="0"/>
          <a:chOff x="0" y="0"/>
          <a:chExt cx="0" cy="0"/>
        </a:xfrm>
      </p:grpSpPr>
      <p:sp>
        <p:nvSpPr>
          <p:cNvPr id="2" name="Shape 0"/>
          <p:cNvSpPr/>
          <p:nvPr/>
        </p:nvSpPr>
        <p:spPr>
          <a:xfrm>
            <a:off x="548640" y="6510528"/>
            <a:ext cx="11091672" cy="0"/>
          </a:xfrm>
          <a:prstGeom prst="line">
            <a:avLst/>
          </a:prstGeom>
          <a:noFill/>
          <a:ln w="12700">
            <a:solidFill>
              <a:srgbClr val="D8CDBE"/>
            </a:solidFill>
            <a:prstDash val="solid"/>
          </a:ln>
        </p:spPr>
        <p:txBody>
          <a:bodyPr/>
          <a:lstStyle/>
          <a:p>
            <a:endParaRPr lang="en-US"/>
          </a:p>
        </p:txBody>
      </p:sp>
      <p:sp>
        <p:nvSpPr>
          <p:cNvPr id="3" name="Text 1"/>
          <p:cNvSpPr/>
          <p:nvPr/>
        </p:nvSpPr>
        <p:spPr>
          <a:xfrm>
            <a:off x="585216" y="6547104"/>
            <a:ext cx="2834640" cy="182880"/>
          </a:xfrm>
          <a:prstGeom prst="rect">
            <a:avLst/>
          </a:prstGeom>
          <a:noFill/>
          <a:ln/>
        </p:spPr>
        <p:txBody>
          <a:bodyPr wrap="square" lIns="0" tIns="0" rIns="0" bIns="0" rtlCol="0" anchor="ctr">
            <a:normAutofit/>
          </a:bodyPr>
          <a:lstStyle/>
          <a:p>
            <a:pPr marL="0" indent="0" algn="l">
              <a:buNone/>
            </a:pPr>
            <a:r>
              <a:rPr lang="en-US" sz="800" dirty="0">
                <a:solidFill>
                  <a:srgbClr val="64806B"/>
                </a:solidFill>
                <a:latin typeface="Avenir Next" pitchFamily="34" charset="0"/>
                <a:ea typeface="Avenir Next" pitchFamily="34" charset="-122"/>
                <a:cs typeface="Avenir Next" pitchFamily="34" charset="-120"/>
              </a:rPr>
              <a:t>SPROUT · MHACKS 2026</a:t>
            </a:r>
            <a:endParaRPr lang="en-US" sz="800" dirty="0"/>
          </a:p>
        </p:txBody>
      </p:sp>
      <p:sp>
        <p:nvSpPr>
          <p:cNvPr id="4" name="Text 2"/>
          <p:cNvSpPr/>
          <p:nvPr/>
        </p:nvSpPr>
        <p:spPr>
          <a:xfrm>
            <a:off x="11201400" y="6519672"/>
            <a:ext cx="365760" cy="182880"/>
          </a:xfrm>
          <a:prstGeom prst="rect">
            <a:avLst/>
          </a:prstGeom>
          <a:noFill/>
          <a:ln/>
        </p:spPr>
        <p:txBody>
          <a:bodyPr wrap="square" lIns="0" tIns="0" rIns="0" bIns="0" rtlCol="0" anchor="ctr">
            <a:normAutofit/>
          </a:bodyPr>
          <a:lstStyle/>
          <a:p>
            <a:pPr marL="0" indent="0" algn="r">
              <a:buNone/>
            </a:pPr>
            <a:r>
              <a:rPr lang="en-US" sz="800" dirty="0">
                <a:solidFill>
                  <a:srgbClr val="64806B"/>
                </a:solidFill>
                <a:latin typeface="Avenir Next" pitchFamily="34" charset="0"/>
                <a:ea typeface="Avenir Next" pitchFamily="34" charset="-122"/>
                <a:cs typeface="Avenir Next" pitchFamily="34" charset="-120"/>
              </a:rPr>
              <a:t>3</a:t>
            </a:r>
            <a:endParaRPr lang="en-US" sz="800" dirty="0"/>
          </a:p>
        </p:txBody>
      </p:sp>
      <p:sp>
        <p:nvSpPr>
          <p:cNvPr id="5" name="Text 3"/>
          <p:cNvSpPr/>
          <p:nvPr/>
        </p:nvSpPr>
        <p:spPr>
          <a:xfrm>
            <a:off x="658368" y="384048"/>
            <a:ext cx="10789920" cy="585216"/>
          </a:xfrm>
          <a:prstGeom prst="rect">
            <a:avLst/>
          </a:prstGeom>
          <a:noFill/>
          <a:ln/>
        </p:spPr>
        <p:txBody>
          <a:bodyPr wrap="square" lIns="0" tIns="0" rIns="0" bIns="0" rtlCol="0" anchor="ctr">
            <a:normAutofit/>
          </a:bodyPr>
          <a:lstStyle/>
          <a:p>
            <a:pPr marL="0" indent="0" algn="l">
              <a:buNone/>
            </a:pPr>
            <a:r>
              <a:rPr lang="en-US" sz="3100" dirty="0">
                <a:solidFill>
                  <a:srgbClr val="083E17"/>
                </a:solidFill>
                <a:latin typeface="Instrument Serif" pitchFamily="34" charset="0"/>
                <a:ea typeface="Instrument Serif" pitchFamily="34" charset="-122"/>
                <a:cs typeface="Instrument Serif" pitchFamily="34" charset="-120"/>
              </a:rPr>
              <a:t>Curriculum turns a file into an executable course graph.</a:t>
            </a:r>
            <a:endParaRPr lang="en-US" sz="3100" dirty="0"/>
          </a:p>
        </p:txBody>
      </p:sp>
      <p:sp>
        <p:nvSpPr>
          <p:cNvPr id="6" name="Text 4"/>
          <p:cNvSpPr/>
          <p:nvPr/>
        </p:nvSpPr>
        <p:spPr>
          <a:xfrm>
            <a:off x="685800" y="969264"/>
            <a:ext cx="10515600" cy="292608"/>
          </a:xfrm>
          <a:prstGeom prst="rect">
            <a:avLst/>
          </a:prstGeom>
          <a:noFill/>
          <a:ln/>
        </p:spPr>
        <p:txBody>
          <a:bodyPr wrap="square" lIns="0" tIns="0" rIns="0" bIns="0" rtlCol="0" anchor="ctr">
            <a:normAutofit/>
          </a:bodyPr>
          <a:lstStyle/>
          <a:p>
            <a:pPr marL="0" indent="0" algn="l">
              <a:buNone/>
            </a:pPr>
            <a:r>
              <a:rPr lang="en-US" sz="1300" dirty="0">
                <a:solidFill>
                  <a:srgbClr val="4E8A5E"/>
                </a:solidFill>
                <a:latin typeface="Avenir Next" pitchFamily="34" charset="0"/>
                <a:ea typeface="Avenir Next" pitchFamily="34" charset="-122"/>
                <a:cs typeface="Avenir Next" pitchFamily="34" charset="-120"/>
              </a:rPr>
              <a:t>The graph constrains every later decision; the model cannot skip locked prerequisites.</a:t>
            </a:r>
            <a:endParaRPr lang="en-US" sz="1300" dirty="0"/>
          </a:p>
        </p:txBody>
      </p:sp>
      <p:sp>
        <p:nvSpPr>
          <p:cNvPr id="7" name="Shape 5"/>
          <p:cNvSpPr/>
          <p:nvPr/>
        </p:nvSpPr>
        <p:spPr>
          <a:xfrm>
            <a:off x="640080" y="1380744"/>
            <a:ext cx="6400800" cy="3630168"/>
          </a:xfrm>
          <a:prstGeom prst="roundRect">
            <a:avLst>
              <a:gd name="adj" fmla="val 3023"/>
            </a:avLst>
          </a:prstGeom>
          <a:solidFill>
            <a:srgbClr val="FFFDFC"/>
          </a:solidFill>
          <a:ln w="12700">
            <a:solidFill>
              <a:srgbClr val="CBBEA9"/>
            </a:solidFill>
            <a:prstDash val="solid"/>
          </a:ln>
        </p:spPr>
        <p:txBody>
          <a:bodyPr/>
          <a:lstStyle/>
          <a:p>
            <a:endParaRPr lang="en-US"/>
          </a:p>
        </p:txBody>
      </p:sp>
      <p:pic>
        <p:nvPicPr>
          <p:cNvPr id="8" name="Image 0" descr="/Users/ashmith/sprout/web/public/showcase/syllabus.jpg"/>
          <p:cNvPicPr>
            <a:picLocks noChangeAspect="1"/>
          </p:cNvPicPr>
          <p:nvPr/>
        </p:nvPicPr>
        <p:blipFill>
          <a:blip r:embed="rId3"/>
          <a:stretch>
            <a:fillRect/>
          </a:stretch>
        </p:blipFill>
        <p:spPr>
          <a:xfrm>
            <a:off x="676656" y="1417320"/>
            <a:ext cx="6327648" cy="3557016"/>
          </a:xfrm>
          <a:prstGeom prst="rect">
            <a:avLst/>
          </a:prstGeom>
        </p:spPr>
      </p:pic>
      <p:sp>
        <p:nvSpPr>
          <p:cNvPr id="9" name="Shape 6"/>
          <p:cNvSpPr/>
          <p:nvPr/>
        </p:nvSpPr>
        <p:spPr>
          <a:xfrm>
            <a:off x="7479792" y="1572768"/>
            <a:ext cx="3566160" cy="822960"/>
          </a:xfrm>
          <a:prstGeom prst="roundRect">
            <a:avLst>
              <a:gd name="adj" fmla="val 13333"/>
            </a:avLst>
          </a:prstGeom>
          <a:solidFill>
            <a:srgbClr val="F0F6ED"/>
          </a:solidFill>
          <a:ln w="12700">
            <a:solidFill>
              <a:srgbClr val="4E8A5E"/>
            </a:solidFill>
            <a:prstDash val="solid"/>
          </a:ln>
        </p:spPr>
        <p:txBody>
          <a:bodyPr/>
          <a:lstStyle/>
          <a:p>
            <a:endParaRPr lang="en-US"/>
          </a:p>
        </p:txBody>
      </p:sp>
      <p:sp>
        <p:nvSpPr>
          <p:cNvPr id="10" name="Text 7"/>
          <p:cNvSpPr/>
          <p:nvPr/>
        </p:nvSpPr>
        <p:spPr>
          <a:xfrm>
            <a:off x="7571232" y="1664208"/>
            <a:ext cx="3383280" cy="246888"/>
          </a:xfrm>
          <a:prstGeom prst="rect">
            <a:avLst/>
          </a:prstGeom>
          <a:noFill/>
          <a:ln/>
        </p:spPr>
        <p:txBody>
          <a:bodyPr wrap="square" lIns="0" tIns="0" rIns="0" bIns="0" rtlCol="0" anchor="ctr">
            <a:normAutofit/>
          </a:bodyPr>
          <a:lstStyle/>
          <a:p>
            <a:pPr marL="0" indent="0" algn="ctr">
              <a:buNone/>
            </a:pPr>
            <a:r>
              <a:rPr lang="en-US" sz="1800" dirty="0">
                <a:solidFill>
                  <a:srgbClr val="083E17"/>
                </a:solidFill>
                <a:latin typeface="Instrument Serif" pitchFamily="34" charset="0"/>
                <a:ea typeface="Instrument Serif" pitchFamily="34" charset="-122"/>
                <a:cs typeface="Instrument Serif" pitchFamily="34" charset="-120"/>
              </a:rPr>
              <a:t>CURRICULUM</a:t>
            </a:r>
            <a:endParaRPr lang="en-US" sz="1800" dirty="0"/>
          </a:p>
        </p:txBody>
      </p:sp>
      <p:sp>
        <p:nvSpPr>
          <p:cNvPr id="11" name="Text 8"/>
          <p:cNvSpPr/>
          <p:nvPr/>
        </p:nvSpPr>
        <p:spPr>
          <a:xfrm>
            <a:off x="7571232" y="1956816"/>
            <a:ext cx="3383280" cy="192024"/>
          </a:xfrm>
          <a:prstGeom prst="rect">
            <a:avLst/>
          </a:prstGeom>
          <a:noFill/>
          <a:ln/>
        </p:spPr>
        <p:txBody>
          <a:bodyPr wrap="square" lIns="0" tIns="0" rIns="0" bIns="0" rtlCol="0" anchor="ctr">
            <a:normAutofit/>
          </a:bodyPr>
          <a:lstStyle/>
          <a:p>
            <a:pPr marL="0" indent="0" algn="ctr">
              <a:buNone/>
            </a:pPr>
            <a:r>
              <a:rPr lang="en-US" sz="900" dirty="0">
                <a:solidFill>
                  <a:srgbClr val="4E8A5E"/>
                </a:solidFill>
                <a:latin typeface="Avenir Next" pitchFamily="34" charset="0"/>
                <a:ea typeface="Avenir Next" pitchFamily="34" charset="-122"/>
                <a:cs typeface="Avenir Next" pitchFamily="34" charset="-120"/>
              </a:rPr>
              <a:t>extract + validate</a:t>
            </a:r>
            <a:endParaRPr lang="en-US" sz="900" dirty="0"/>
          </a:p>
        </p:txBody>
      </p:sp>
      <p:sp>
        <p:nvSpPr>
          <p:cNvPr id="12" name="Shape 9"/>
          <p:cNvSpPr/>
          <p:nvPr/>
        </p:nvSpPr>
        <p:spPr>
          <a:xfrm>
            <a:off x="9262872" y="2450592"/>
            <a:ext cx="0" cy="365760"/>
          </a:xfrm>
          <a:prstGeom prst="line">
            <a:avLst/>
          </a:prstGeom>
          <a:noFill/>
          <a:ln w="25400">
            <a:solidFill>
              <a:srgbClr val="4E8A5E"/>
            </a:solidFill>
            <a:prstDash val="solid"/>
            <a:headEnd type="none"/>
            <a:tailEnd type="triangle"/>
          </a:ln>
        </p:spPr>
        <p:txBody>
          <a:bodyPr/>
          <a:lstStyle/>
          <a:p>
            <a:endParaRPr lang="en-US"/>
          </a:p>
        </p:txBody>
      </p:sp>
      <p:sp>
        <p:nvSpPr>
          <p:cNvPr id="13" name="Shape 10"/>
          <p:cNvSpPr/>
          <p:nvPr/>
        </p:nvSpPr>
        <p:spPr>
          <a:xfrm>
            <a:off x="7479792" y="2852928"/>
            <a:ext cx="3566160" cy="822960"/>
          </a:xfrm>
          <a:prstGeom prst="roundRect">
            <a:avLst>
              <a:gd name="adj" fmla="val 13333"/>
            </a:avLst>
          </a:prstGeom>
          <a:solidFill>
            <a:srgbClr val="FFFDFC"/>
          </a:solidFill>
          <a:ln w="12700">
            <a:solidFill>
              <a:srgbClr val="4E8A5E"/>
            </a:solidFill>
            <a:prstDash val="solid"/>
          </a:ln>
        </p:spPr>
        <p:txBody>
          <a:bodyPr/>
          <a:lstStyle/>
          <a:p>
            <a:endParaRPr lang="en-US"/>
          </a:p>
        </p:txBody>
      </p:sp>
      <p:sp>
        <p:nvSpPr>
          <p:cNvPr id="14" name="Text 11"/>
          <p:cNvSpPr/>
          <p:nvPr/>
        </p:nvSpPr>
        <p:spPr>
          <a:xfrm>
            <a:off x="7571232" y="2944368"/>
            <a:ext cx="3383280" cy="246888"/>
          </a:xfrm>
          <a:prstGeom prst="rect">
            <a:avLst/>
          </a:prstGeom>
          <a:noFill/>
          <a:ln/>
        </p:spPr>
        <p:txBody>
          <a:bodyPr wrap="square" lIns="0" tIns="0" rIns="0" bIns="0" rtlCol="0" anchor="ctr">
            <a:normAutofit/>
          </a:bodyPr>
          <a:lstStyle/>
          <a:p>
            <a:pPr marL="0" indent="0" algn="ctr">
              <a:buNone/>
            </a:pPr>
            <a:r>
              <a:rPr lang="en-US" sz="1800" dirty="0">
                <a:solidFill>
                  <a:srgbClr val="083E17"/>
                </a:solidFill>
                <a:latin typeface="Instrument Serif" pitchFamily="34" charset="0"/>
                <a:ea typeface="Instrument Serif" pitchFamily="34" charset="-122"/>
                <a:cs typeface="Instrument Serif" pitchFamily="34" charset="-120"/>
              </a:rPr>
              <a:t>DRAFT</a:t>
            </a:r>
            <a:endParaRPr lang="en-US" sz="1800" dirty="0"/>
          </a:p>
        </p:txBody>
      </p:sp>
      <p:sp>
        <p:nvSpPr>
          <p:cNvPr id="15" name="Text 12"/>
          <p:cNvSpPr/>
          <p:nvPr/>
        </p:nvSpPr>
        <p:spPr>
          <a:xfrm>
            <a:off x="7571232" y="3236976"/>
            <a:ext cx="3383280" cy="192024"/>
          </a:xfrm>
          <a:prstGeom prst="rect">
            <a:avLst/>
          </a:prstGeom>
          <a:noFill/>
          <a:ln/>
        </p:spPr>
        <p:txBody>
          <a:bodyPr wrap="square" lIns="0" tIns="0" rIns="0" bIns="0" rtlCol="0" anchor="ctr">
            <a:normAutofit/>
          </a:bodyPr>
          <a:lstStyle/>
          <a:p>
            <a:pPr marL="0" indent="0" algn="ctr">
              <a:buNone/>
            </a:pPr>
            <a:r>
              <a:rPr lang="en-US" sz="900" dirty="0">
                <a:solidFill>
                  <a:srgbClr val="4E8A5E"/>
                </a:solidFill>
                <a:latin typeface="Avenir Next" pitchFamily="34" charset="0"/>
                <a:ea typeface="Avenir Next" pitchFamily="34" charset="-122"/>
                <a:cs typeface="Avenir Next" pitchFamily="34" charset="-120"/>
              </a:rPr>
              <a:t>student confirms structure</a:t>
            </a:r>
            <a:endParaRPr lang="en-US" sz="900" dirty="0"/>
          </a:p>
        </p:txBody>
      </p:sp>
      <p:sp>
        <p:nvSpPr>
          <p:cNvPr id="16" name="Shape 13"/>
          <p:cNvSpPr/>
          <p:nvPr/>
        </p:nvSpPr>
        <p:spPr>
          <a:xfrm>
            <a:off x="9262872" y="3730752"/>
            <a:ext cx="0" cy="365760"/>
          </a:xfrm>
          <a:prstGeom prst="line">
            <a:avLst/>
          </a:prstGeom>
          <a:noFill/>
          <a:ln w="25400">
            <a:solidFill>
              <a:srgbClr val="4E8A5E"/>
            </a:solidFill>
            <a:prstDash val="solid"/>
            <a:headEnd type="none"/>
            <a:tailEnd type="triangle"/>
          </a:ln>
        </p:spPr>
        <p:txBody>
          <a:bodyPr/>
          <a:lstStyle/>
          <a:p>
            <a:endParaRPr lang="en-US"/>
          </a:p>
        </p:txBody>
      </p:sp>
      <p:sp>
        <p:nvSpPr>
          <p:cNvPr id="17" name="Shape 14"/>
          <p:cNvSpPr/>
          <p:nvPr/>
        </p:nvSpPr>
        <p:spPr>
          <a:xfrm>
            <a:off x="7479792" y="4133088"/>
            <a:ext cx="3566160" cy="822960"/>
          </a:xfrm>
          <a:prstGeom prst="roundRect">
            <a:avLst>
              <a:gd name="adj" fmla="val 13333"/>
            </a:avLst>
          </a:prstGeom>
          <a:solidFill>
            <a:srgbClr val="E8E1F2"/>
          </a:solidFill>
          <a:ln w="12700">
            <a:solidFill>
              <a:srgbClr val="9B83B4"/>
            </a:solidFill>
            <a:prstDash val="solid"/>
          </a:ln>
        </p:spPr>
        <p:txBody>
          <a:bodyPr/>
          <a:lstStyle/>
          <a:p>
            <a:endParaRPr lang="en-US"/>
          </a:p>
        </p:txBody>
      </p:sp>
      <p:sp>
        <p:nvSpPr>
          <p:cNvPr id="18" name="Text 15"/>
          <p:cNvSpPr/>
          <p:nvPr/>
        </p:nvSpPr>
        <p:spPr>
          <a:xfrm>
            <a:off x="7571232" y="4224528"/>
            <a:ext cx="3383280" cy="246888"/>
          </a:xfrm>
          <a:prstGeom prst="rect">
            <a:avLst/>
          </a:prstGeom>
          <a:noFill/>
          <a:ln/>
        </p:spPr>
        <p:txBody>
          <a:bodyPr wrap="square" lIns="0" tIns="0" rIns="0" bIns="0" rtlCol="0" anchor="ctr">
            <a:normAutofit/>
          </a:bodyPr>
          <a:lstStyle/>
          <a:p>
            <a:pPr marL="0" indent="0" algn="ctr">
              <a:buNone/>
            </a:pPr>
            <a:r>
              <a:rPr lang="en-US" sz="1800" dirty="0">
                <a:solidFill>
                  <a:srgbClr val="083E17"/>
                </a:solidFill>
                <a:latin typeface="Instrument Serif" pitchFamily="34" charset="0"/>
                <a:ea typeface="Instrument Serif" pitchFamily="34" charset="-122"/>
                <a:cs typeface="Instrument Serif" pitchFamily="34" charset="-120"/>
              </a:rPr>
              <a:t>SPACETIMEDB</a:t>
            </a:r>
            <a:endParaRPr lang="en-US" sz="1800" dirty="0"/>
          </a:p>
        </p:txBody>
      </p:sp>
      <p:sp>
        <p:nvSpPr>
          <p:cNvPr id="19" name="Text 16"/>
          <p:cNvSpPr/>
          <p:nvPr/>
        </p:nvSpPr>
        <p:spPr>
          <a:xfrm>
            <a:off x="7571232" y="4517136"/>
            <a:ext cx="3383280" cy="192024"/>
          </a:xfrm>
          <a:prstGeom prst="rect">
            <a:avLst/>
          </a:prstGeom>
          <a:noFill/>
          <a:ln/>
        </p:spPr>
        <p:txBody>
          <a:bodyPr wrap="square" lIns="0" tIns="0" rIns="0" bIns="0" rtlCol="0" anchor="ctr">
            <a:normAutofit/>
          </a:bodyPr>
          <a:lstStyle/>
          <a:p>
            <a:pPr marL="0" indent="0" algn="ctr">
              <a:buNone/>
            </a:pPr>
            <a:r>
              <a:rPr lang="en-US" sz="900" dirty="0">
                <a:solidFill>
                  <a:srgbClr val="4E8A5E"/>
                </a:solidFill>
                <a:latin typeface="Avenir Next" pitchFamily="34" charset="0"/>
                <a:ea typeface="Avenir Next" pitchFamily="34" charset="-122"/>
                <a:cs typeface="Avenir Next" pitchFamily="34" charset="-120"/>
              </a:rPr>
              <a:t>graph + prerequisites</a:t>
            </a:r>
            <a:endParaRPr lang="en-US" sz="900" dirty="0"/>
          </a:p>
        </p:txBody>
      </p:sp>
      <p:sp>
        <p:nvSpPr>
          <p:cNvPr id="20" name="Shape 17"/>
          <p:cNvSpPr/>
          <p:nvPr/>
        </p:nvSpPr>
        <p:spPr>
          <a:xfrm>
            <a:off x="841248" y="5276088"/>
            <a:ext cx="1115568" cy="310896"/>
          </a:xfrm>
          <a:prstGeom prst="roundRect">
            <a:avLst>
              <a:gd name="adj" fmla="val 50000"/>
            </a:avLst>
          </a:prstGeom>
          <a:solidFill>
            <a:srgbClr val="DDEBD7"/>
          </a:solidFill>
          <a:ln w="12700">
            <a:solidFill>
              <a:srgbClr val="DDEBD7"/>
            </a:solidFill>
            <a:prstDash val="solid"/>
          </a:ln>
        </p:spPr>
        <p:txBody>
          <a:bodyPr/>
          <a:lstStyle/>
          <a:p>
            <a:endParaRPr lang="en-US"/>
          </a:p>
        </p:txBody>
      </p:sp>
      <p:sp>
        <p:nvSpPr>
          <p:cNvPr id="21" name="Text 18"/>
          <p:cNvSpPr/>
          <p:nvPr/>
        </p:nvSpPr>
        <p:spPr>
          <a:xfrm>
            <a:off x="905256" y="5294376"/>
            <a:ext cx="987552" cy="256032"/>
          </a:xfrm>
          <a:prstGeom prst="rect">
            <a:avLst/>
          </a:prstGeom>
          <a:noFill/>
          <a:ln/>
        </p:spPr>
        <p:txBody>
          <a:bodyPr wrap="square" lIns="0" tIns="0" rIns="0" bIns="0" rtlCol="0" anchor="ctr">
            <a:normAutofit/>
          </a:bodyPr>
          <a:lstStyle/>
          <a:p>
            <a:pPr marL="0" indent="0" algn="ctr">
              <a:buNone/>
            </a:pPr>
            <a:r>
              <a:rPr lang="en-US" sz="1000" b="1" dirty="0">
                <a:solidFill>
                  <a:srgbClr val="0B6122"/>
                </a:solidFill>
                <a:latin typeface="Avenir Next" pitchFamily="34" charset="0"/>
                <a:ea typeface="Avenir Next" pitchFamily="34" charset="-122"/>
                <a:cs typeface="Avenir Next" pitchFamily="34" charset="-120"/>
              </a:rPr>
              <a:t>13 concepts</a:t>
            </a:r>
            <a:endParaRPr lang="en-US" sz="1000" dirty="0"/>
          </a:p>
        </p:txBody>
      </p:sp>
      <p:sp>
        <p:nvSpPr>
          <p:cNvPr id="22" name="Shape 19"/>
          <p:cNvSpPr/>
          <p:nvPr/>
        </p:nvSpPr>
        <p:spPr>
          <a:xfrm>
            <a:off x="2112264" y="5276088"/>
            <a:ext cx="1737360" cy="310896"/>
          </a:xfrm>
          <a:prstGeom prst="roundRect">
            <a:avLst>
              <a:gd name="adj" fmla="val 50000"/>
            </a:avLst>
          </a:prstGeom>
          <a:solidFill>
            <a:srgbClr val="DDEBD7"/>
          </a:solidFill>
          <a:ln w="12700">
            <a:solidFill>
              <a:srgbClr val="DDEBD7"/>
            </a:solidFill>
            <a:prstDash val="solid"/>
          </a:ln>
        </p:spPr>
        <p:txBody>
          <a:bodyPr/>
          <a:lstStyle/>
          <a:p>
            <a:endParaRPr lang="en-US"/>
          </a:p>
        </p:txBody>
      </p:sp>
      <p:sp>
        <p:nvSpPr>
          <p:cNvPr id="23" name="Text 20"/>
          <p:cNvSpPr/>
          <p:nvPr/>
        </p:nvSpPr>
        <p:spPr>
          <a:xfrm>
            <a:off x="2176272" y="5294376"/>
            <a:ext cx="1609344" cy="256032"/>
          </a:xfrm>
          <a:prstGeom prst="rect">
            <a:avLst/>
          </a:prstGeom>
          <a:noFill/>
          <a:ln/>
        </p:spPr>
        <p:txBody>
          <a:bodyPr wrap="square" lIns="0" tIns="0" rIns="0" bIns="0" rtlCol="0" anchor="ctr">
            <a:normAutofit/>
          </a:bodyPr>
          <a:lstStyle/>
          <a:p>
            <a:pPr marL="0" indent="0" algn="ctr">
              <a:buNone/>
            </a:pPr>
            <a:r>
              <a:rPr lang="en-US" sz="1000" b="1" dirty="0">
                <a:solidFill>
                  <a:srgbClr val="0B6122"/>
                </a:solidFill>
                <a:latin typeface="Avenir Next" pitchFamily="34" charset="0"/>
                <a:ea typeface="Avenir Next" pitchFamily="34" charset="-122"/>
                <a:cs typeface="Avenir Next" pitchFamily="34" charset="-120"/>
              </a:rPr>
              <a:t>14 prerequisite links</a:t>
            </a:r>
            <a:endParaRPr lang="en-US" sz="1000" dirty="0"/>
          </a:p>
        </p:txBody>
      </p:sp>
      <p:sp>
        <p:nvSpPr>
          <p:cNvPr id="24" name="Shape 21"/>
          <p:cNvSpPr/>
          <p:nvPr/>
        </p:nvSpPr>
        <p:spPr>
          <a:xfrm>
            <a:off x="3995928" y="5276088"/>
            <a:ext cx="1298448" cy="310896"/>
          </a:xfrm>
          <a:prstGeom prst="roundRect">
            <a:avLst>
              <a:gd name="adj" fmla="val 50000"/>
            </a:avLst>
          </a:prstGeom>
          <a:solidFill>
            <a:srgbClr val="DDEBD7"/>
          </a:solidFill>
          <a:ln w="12700">
            <a:solidFill>
              <a:srgbClr val="DDEBD7"/>
            </a:solidFill>
            <a:prstDash val="solid"/>
          </a:ln>
        </p:spPr>
        <p:txBody>
          <a:bodyPr/>
          <a:lstStyle/>
          <a:p>
            <a:endParaRPr lang="en-US"/>
          </a:p>
        </p:txBody>
      </p:sp>
      <p:sp>
        <p:nvSpPr>
          <p:cNvPr id="25" name="Text 22"/>
          <p:cNvSpPr/>
          <p:nvPr/>
        </p:nvSpPr>
        <p:spPr>
          <a:xfrm>
            <a:off x="4059936" y="5294376"/>
            <a:ext cx="1170432" cy="256032"/>
          </a:xfrm>
          <a:prstGeom prst="rect">
            <a:avLst/>
          </a:prstGeom>
          <a:noFill/>
          <a:ln/>
        </p:spPr>
        <p:txBody>
          <a:bodyPr wrap="square" lIns="0" tIns="0" rIns="0" bIns="0" rtlCol="0" anchor="ctr">
            <a:normAutofit/>
          </a:bodyPr>
          <a:lstStyle/>
          <a:p>
            <a:pPr marL="0" indent="0" algn="ctr">
              <a:buNone/>
            </a:pPr>
            <a:r>
              <a:rPr lang="en-US" sz="1000" b="1" dirty="0">
                <a:solidFill>
                  <a:srgbClr val="0B6122"/>
                </a:solidFill>
                <a:latin typeface="Avenir Next" pitchFamily="34" charset="0"/>
                <a:ea typeface="Avenir Next" pitchFamily="34" charset="-122"/>
                <a:cs typeface="Avenir Next" pitchFamily="34" charset="-120"/>
              </a:rPr>
              <a:t>cycle-checked</a:t>
            </a:r>
            <a:endParaRPr lang="en-US" sz="1000" dirty="0"/>
          </a:p>
        </p:txBody>
      </p:sp>
      <p:sp>
        <p:nvSpPr>
          <p:cNvPr id="26" name="Shape 23"/>
          <p:cNvSpPr/>
          <p:nvPr/>
        </p:nvSpPr>
        <p:spPr>
          <a:xfrm>
            <a:off x="5449824" y="5276088"/>
            <a:ext cx="2148840" cy="310896"/>
          </a:xfrm>
          <a:prstGeom prst="roundRect">
            <a:avLst>
              <a:gd name="adj" fmla="val 50000"/>
            </a:avLst>
          </a:prstGeom>
          <a:solidFill>
            <a:srgbClr val="DDEBD7"/>
          </a:solidFill>
          <a:ln w="12700">
            <a:solidFill>
              <a:srgbClr val="DDEBD7"/>
            </a:solidFill>
            <a:prstDash val="solid"/>
          </a:ln>
        </p:spPr>
        <p:txBody>
          <a:bodyPr/>
          <a:lstStyle/>
          <a:p>
            <a:endParaRPr lang="en-US"/>
          </a:p>
        </p:txBody>
      </p:sp>
      <p:sp>
        <p:nvSpPr>
          <p:cNvPr id="27" name="Text 24"/>
          <p:cNvSpPr/>
          <p:nvPr/>
        </p:nvSpPr>
        <p:spPr>
          <a:xfrm>
            <a:off x="5513832" y="5294376"/>
            <a:ext cx="2020824" cy="256032"/>
          </a:xfrm>
          <a:prstGeom prst="rect">
            <a:avLst/>
          </a:prstGeom>
          <a:noFill/>
          <a:ln/>
        </p:spPr>
        <p:txBody>
          <a:bodyPr wrap="square" lIns="0" tIns="0" rIns="0" bIns="0" rtlCol="0" anchor="ctr">
            <a:normAutofit/>
          </a:bodyPr>
          <a:lstStyle/>
          <a:p>
            <a:pPr marL="0" indent="0" algn="ctr">
              <a:buNone/>
            </a:pPr>
            <a:r>
              <a:rPr lang="en-US" sz="1000" b="1" dirty="0">
                <a:solidFill>
                  <a:srgbClr val="0B6122"/>
                </a:solidFill>
                <a:latin typeface="Avenir Next" pitchFamily="34" charset="0"/>
                <a:ea typeface="Avenir Next" pitchFamily="34" charset="-122"/>
                <a:cs typeface="Avenir Next" pitchFamily="34" charset="-120"/>
              </a:rPr>
              <a:t>confirmed before activation</a:t>
            </a:r>
            <a:endParaRPr lang="en-US" sz="1000" dirty="0"/>
          </a:p>
        </p:txBody>
      </p:sp>
      <p:sp>
        <p:nvSpPr>
          <p:cNvPr id="28" name="Text 25"/>
          <p:cNvSpPr/>
          <p:nvPr/>
        </p:nvSpPr>
        <p:spPr>
          <a:xfrm>
            <a:off x="7516368" y="5330952"/>
            <a:ext cx="3502152" cy="384048"/>
          </a:xfrm>
          <a:prstGeom prst="rect">
            <a:avLst/>
          </a:prstGeom>
          <a:noFill/>
          <a:ln/>
        </p:spPr>
        <p:txBody>
          <a:bodyPr wrap="square" lIns="0" tIns="0" rIns="0" bIns="0" rtlCol="0" anchor="ctr">
            <a:normAutofit/>
          </a:bodyPr>
          <a:lstStyle/>
          <a:p>
            <a:pPr marL="0" indent="0" algn="ctr">
              <a:buNone/>
            </a:pPr>
            <a:r>
              <a:rPr lang="en-US" sz="1700" i="1" dirty="0">
                <a:solidFill>
                  <a:srgbClr val="083E17"/>
                </a:solidFill>
                <a:latin typeface="Instrument Serif" pitchFamily="34" charset="0"/>
                <a:ea typeface="Instrument Serif" pitchFamily="34" charset="-122"/>
                <a:cs typeface="Instrument Serif" pitchFamily="34" charset="-120"/>
              </a:rPr>
              <a:t>Generated once. Enforced on every recommendation.</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EFE3"/>
        </a:solidFill>
        <a:effectLst/>
      </p:bgPr>
    </p:bg>
    <p:spTree>
      <p:nvGrpSpPr>
        <p:cNvPr id="1" name=""/>
        <p:cNvGrpSpPr/>
        <p:nvPr/>
      </p:nvGrpSpPr>
      <p:grpSpPr>
        <a:xfrm>
          <a:off x="0" y="0"/>
          <a:ext cx="0" cy="0"/>
          <a:chOff x="0" y="0"/>
          <a:chExt cx="0" cy="0"/>
        </a:xfrm>
      </p:grpSpPr>
      <p:sp>
        <p:nvSpPr>
          <p:cNvPr id="2" name="Shape 0"/>
          <p:cNvSpPr/>
          <p:nvPr/>
        </p:nvSpPr>
        <p:spPr>
          <a:xfrm>
            <a:off x="548640" y="6510528"/>
            <a:ext cx="11091672" cy="0"/>
          </a:xfrm>
          <a:prstGeom prst="line">
            <a:avLst/>
          </a:prstGeom>
          <a:noFill/>
          <a:ln w="12700">
            <a:solidFill>
              <a:srgbClr val="D8CDBE"/>
            </a:solidFill>
            <a:prstDash val="solid"/>
          </a:ln>
        </p:spPr>
        <p:txBody>
          <a:bodyPr/>
          <a:lstStyle/>
          <a:p>
            <a:endParaRPr lang="en-US"/>
          </a:p>
        </p:txBody>
      </p:sp>
      <p:sp>
        <p:nvSpPr>
          <p:cNvPr id="3" name="Text 1"/>
          <p:cNvSpPr/>
          <p:nvPr/>
        </p:nvSpPr>
        <p:spPr>
          <a:xfrm>
            <a:off x="585216" y="6547104"/>
            <a:ext cx="2834640" cy="182880"/>
          </a:xfrm>
          <a:prstGeom prst="rect">
            <a:avLst/>
          </a:prstGeom>
          <a:noFill/>
          <a:ln/>
        </p:spPr>
        <p:txBody>
          <a:bodyPr wrap="square" lIns="0" tIns="0" rIns="0" bIns="0" rtlCol="0" anchor="ctr">
            <a:normAutofit/>
          </a:bodyPr>
          <a:lstStyle/>
          <a:p>
            <a:pPr marL="0" indent="0" algn="l">
              <a:buNone/>
            </a:pPr>
            <a:r>
              <a:rPr lang="en-US" sz="800" dirty="0">
                <a:solidFill>
                  <a:srgbClr val="64806B"/>
                </a:solidFill>
                <a:latin typeface="Avenir Next" pitchFamily="34" charset="0"/>
                <a:ea typeface="Avenir Next" pitchFamily="34" charset="-122"/>
                <a:cs typeface="Avenir Next" pitchFamily="34" charset="-120"/>
              </a:rPr>
              <a:t>SPROUT · MHACKS 2026</a:t>
            </a:r>
            <a:endParaRPr lang="en-US" sz="800" dirty="0"/>
          </a:p>
        </p:txBody>
      </p:sp>
      <p:sp>
        <p:nvSpPr>
          <p:cNvPr id="4" name="Text 2"/>
          <p:cNvSpPr/>
          <p:nvPr/>
        </p:nvSpPr>
        <p:spPr>
          <a:xfrm>
            <a:off x="11201400" y="6519672"/>
            <a:ext cx="365760" cy="182880"/>
          </a:xfrm>
          <a:prstGeom prst="rect">
            <a:avLst/>
          </a:prstGeom>
          <a:noFill/>
          <a:ln/>
        </p:spPr>
        <p:txBody>
          <a:bodyPr wrap="square" lIns="0" tIns="0" rIns="0" bIns="0" rtlCol="0" anchor="ctr">
            <a:normAutofit/>
          </a:bodyPr>
          <a:lstStyle/>
          <a:p>
            <a:pPr marL="0" indent="0" algn="r">
              <a:buNone/>
            </a:pPr>
            <a:r>
              <a:rPr lang="en-US" sz="800" dirty="0">
                <a:solidFill>
                  <a:srgbClr val="64806B"/>
                </a:solidFill>
                <a:latin typeface="Avenir Next" pitchFamily="34" charset="0"/>
                <a:ea typeface="Avenir Next" pitchFamily="34" charset="-122"/>
                <a:cs typeface="Avenir Next" pitchFamily="34" charset="-120"/>
              </a:rPr>
              <a:t>4</a:t>
            </a:r>
            <a:endParaRPr lang="en-US" sz="800" dirty="0"/>
          </a:p>
        </p:txBody>
      </p:sp>
      <p:sp>
        <p:nvSpPr>
          <p:cNvPr id="5" name="Text 3"/>
          <p:cNvSpPr/>
          <p:nvPr/>
        </p:nvSpPr>
        <p:spPr>
          <a:xfrm>
            <a:off x="658368" y="384048"/>
            <a:ext cx="10789920" cy="585216"/>
          </a:xfrm>
          <a:prstGeom prst="rect">
            <a:avLst/>
          </a:prstGeom>
          <a:noFill/>
          <a:ln/>
        </p:spPr>
        <p:txBody>
          <a:bodyPr wrap="square" lIns="0" tIns="0" rIns="0" bIns="0" rtlCol="0" anchor="ctr">
            <a:normAutofit/>
          </a:bodyPr>
          <a:lstStyle/>
          <a:p>
            <a:pPr marL="0" indent="0" algn="l">
              <a:buNone/>
            </a:pPr>
            <a:r>
              <a:rPr lang="en-US" sz="3100" dirty="0">
                <a:solidFill>
                  <a:srgbClr val="083E17"/>
                </a:solidFill>
                <a:latin typeface="Instrument Serif" pitchFamily="34" charset="0"/>
                <a:ea typeface="Instrument Serif" pitchFamily="34" charset="-122"/>
                <a:cs typeface="Instrument Serif" pitchFamily="34" charset="-120"/>
              </a:rPr>
              <a:t>ASI:One is the front door. Sprout is the system behind it.</a:t>
            </a:r>
            <a:endParaRPr lang="en-US" sz="3100" dirty="0"/>
          </a:p>
        </p:txBody>
      </p:sp>
      <p:sp>
        <p:nvSpPr>
          <p:cNvPr id="6" name="Text 4"/>
          <p:cNvSpPr/>
          <p:nvPr/>
        </p:nvSpPr>
        <p:spPr>
          <a:xfrm>
            <a:off x="685800" y="969264"/>
            <a:ext cx="10515600" cy="292608"/>
          </a:xfrm>
          <a:prstGeom prst="rect">
            <a:avLst/>
          </a:prstGeom>
          <a:noFill/>
          <a:ln/>
        </p:spPr>
        <p:txBody>
          <a:bodyPr wrap="square" lIns="0" tIns="0" rIns="0" bIns="0" rtlCol="0" anchor="ctr">
            <a:normAutofit/>
          </a:bodyPr>
          <a:lstStyle/>
          <a:p>
            <a:pPr marL="0" indent="0" algn="l">
              <a:buNone/>
            </a:pPr>
            <a:r>
              <a:rPr lang="en-US" sz="1300" dirty="0">
                <a:solidFill>
                  <a:srgbClr val="4E8A5E"/>
                </a:solidFill>
                <a:latin typeface="Avenir Next" pitchFamily="34" charset="0"/>
                <a:ea typeface="Avenir Next" pitchFamily="34" charset="-122"/>
                <a:cs typeface="Avenir Next" pitchFamily="34" charset="-120"/>
              </a:rPr>
              <a:t>A live chat can invoke specialists, tools, cards, and links without losing the learner’s state.</a:t>
            </a:r>
            <a:endParaRPr lang="en-US" sz="1300" dirty="0"/>
          </a:p>
        </p:txBody>
      </p:sp>
      <p:sp>
        <p:nvSpPr>
          <p:cNvPr id="7" name="Shape 5"/>
          <p:cNvSpPr/>
          <p:nvPr/>
        </p:nvSpPr>
        <p:spPr>
          <a:xfrm>
            <a:off x="658368" y="1389888"/>
            <a:ext cx="4736592" cy="4517136"/>
          </a:xfrm>
          <a:prstGeom prst="roundRect">
            <a:avLst>
              <a:gd name="adj" fmla="val 2429"/>
            </a:avLst>
          </a:prstGeom>
          <a:solidFill>
            <a:srgbClr val="FBFAF7"/>
          </a:solidFill>
          <a:ln w="12700">
            <a:solidFill>
              <a:srgbClr val="BFB5A6"/>
            </a:solidFill>
            <a:prstDash val="solid"/>
          </a:ln>
        </p:spPr>
        <p:txBody>
          <a:bodyPr/>
          <a:lstStyle/>
          <a:p>
            <a:endParaRPr lang="en-US"/>
          </a:p>
        </p:txBody>
      </p:sp>
      <p:sp>
        <p:nvSpPr>
          <p:cNvPr id="8" name="Shape 6"/>
          <p:cNvSpPr/>
          <p:nvPr/>
        </p:nvSpPr>
        <p:spPr>
          <a:xfrm>
            <a:off x="896112" y="1627632"/>
            <a:ext cx="2240280" cy="310896"/>
          </a:xfrm>
          <a:prstGeom prst="roundRect">
            <a:avLst>
              <a:gd name="adj" fmla="val 50000"/>
            </a:avLst>
          </a:prstGeom>
          <a:solidFill>
            <a:srgbClr val="DDE8F2"/>
          </a:solidFill>
          <a:ln w="12700">
            <a:solidFill>
              <a:srgbClr val="DDE8F2"/>
            </a:solidFill>
            <a:prstDash val="solid"/>
          </a:ln>
        </p:spPr>
        <p:txBody>
          <a:bodyPr/>
          <a:lstStyle/>
          <a:p>
            <a:endParaRPr lang="en-US"/>
          </a:p>
        </p:txBody>
      </p:sp>
      <p:sp>
        <p:nvSpPr>
          <p:cNvPr id="9" name="Text 7"/>
          <p:cNvSpPr/>
          <p:nvPr/>
        </p:nvSpPr>
        <p:spPr>
          <a:xfrm>
            <a:off x="960120" y="1645920"/>
            <a:ext cx="2112264" cy="256032"/>
          </a:xfrm>
          <a:prstGeom prst="rect">
            <a:avLst/>
          </a:prstGeom>
          <a:noFill/>
          <a:ln/>
        </p:spPr>
        <p:txBody>
          <a:bodyPr wrap="square" lIns="0" tIns="0" rIns="0" bIns="0" rtlCol="0" anchor="ctr">
            <a:normAutofit/>
          </a:bodyPr>
          <a:lstStyle/>
          <a:p>
            <a:pPr marL="0" indent="0" algn="ctr">
              <a:buNone/>
            </a:pPr>
            <a:r>
              <a:rPr lang="en-US" sz="1000" b="1" dirty="0">
                <a:solidFill>
                  <a:srgbClr val="28577A"/>
                </a:solidFill>
                <a:latin typeface="Avenir Next" pitchFamily="34" charset="0"/>
                <a:ea typeface="Avenir Next" pitchFamily="34" charset="-122"/>
                <a:cs typeface="Avenir Next" pitchFamily="34" charset="-120"/>
              </a:rPr>
              <a:t>ASI:ONE · @sprout-main-cloud</a:t>
            </a:r>
            <a:endParaRPr lang="en-US" sz="1000" dirty="0"/>
          </a:p>
        </p:txBody>
      </p:sp>
      <p:sp>
        <p:nvSpPr>
          <p:cNvPr id="10" name="Shape 8"/>
          <p:cNvSpPr/>
          <p:nvPr/>
        </p:nvSpPr>
        <p:spPr>
          <a:xfrm>
            <a:off x="941832" y="2176272"/>
            <a:ext cx="3886200" cy="612648"/>
          </a:xfrm>
          <a:prstGeom prst="roundRect">
            <a:avLst>
              <a:gd name="adj" fmla="val 17910"/>
            </a:avLst>
          </a:prstGeom>
          <a:solidFill>
            <a:srgbClr val="EFEAE2"/>
          </a:solidFill>
          <a:ln w="12700">
            <a:solidFill>
              <a:srgbClr val="EFEAE2"/>
            </a:solidFill>
            <a:prstDash val="solid"/>
          </a:ln>
        </p:spPr>
        <p:txBody>
          <a:bodyPr/>
          <a:lstStyle/>
          <a:p>
            <a:endParaRPr lang="en-US"/>
          </a:p>
        </p:txBody>
      </p:sp>
      <p:sp>
        <p:nvSpPr>
          <p:cNvPr id="11" name="Text 9"/>
          <p:cNvSpPr/>
          <p:nvPr/>
        </p:nvSpPr>
        <p:spPr>
          <a:xfrm>
            <a:off x="1161288" y="2322576"/>
            <a:ext cx="3456432" cy="283464"/>
          </a:xfrm>
          <a:prstGeom prst="rect">
            <a:avLst/>
          </a:prstGeom>
          <a:noFill/>
          <a:ln/>
        </p:spPr>
        <p:txBody>
          <a:bodyPr wrap="square" lIns="0" tIns="0" rIns="0" bIns="0" rtlCol="0" anchor="ctr">
            <a:normAutofit/>
          </a:bodyPr>
          <a:lstStyle/>
          <a:p>
            <a:pPr marL="0" indent="0" algn="l">
              <a:buNone/>
            </a:pPr>
            <a:r>
              <a:rPr lang="en-US" sz="1400" dirty="0">
                <a:solidFill>
                  <a:srgbClr val="20241F"/>
                </a:solidFill>
                <a:latin typeface="Avenir Next" pitchFamily="34" charset="0"/>
                <a:ea typeface="Avenir Next" pitchFamily="34" charset="-122"/>
                <a:cs typeface="Avenir Next" pitchFamily="34" charset="-120"/>
              </a:rPr>
              <a:t>Make a Data Structures game for my group.</a:t>
            </a:r>
            <a:endParaRPr lang="en-US" sz="1400" dirty="0"/>
          </a:p>
        </p:txBody>
      </p:sp>
      <p:sp>
        <p:nvSpPr>
          <p:cNvPr id="12" name="Shape 10"/>
          <p:cNvSpPr/>
          <p:nvPr/>
        </p:nvSpPr>
        <p:spPr>
          <a:xfrm>
            <a:off x="1389888" y="2999232"/>
            <a:ext cx="3685032" cy="1984248"/>
          </a:xfrm>
          <a:prstGeom prst="roundRect">
            <a:avLst>
              <a:gd name="adj" fmla="val 5530"/>
            </a:avLst>
          </a:prstGeom>
          <a:solidFill>
            <a:srgbClr val="FFFDFC"/>
          </a:solidFill>
          <a:ln w="12700">
            <a:solidFill>
              <a:srgbClr val="D2C7B7"/>
            </a:solidFill>
            <a:prstDash val="solid"/>
          </a:ln>
        </p:spPr>
        <p:txBody>
          <a:bodyPr/>
          <a:lstStyle/>
          <a:p>
            <a:endParaRPr lang="en-US"/>
          </a:p>
        </p:txBody>
      </p:sp>
      <p:sp>
        <p:nvSpPr>
          <p:cNvPr id="13" name="Text 11"/>
          <p:cNvSpPr/>
          <p:nvPr/>
        </p:nvSpPr>
        <p:spPr>
          <a:xfrm>
            <a:off x="1645920" y="3218688"/>
            <a:ext cx="3136392" cy="310896"/>
          </a:xfrm>
          <a:prstGeom prst="rect">
            <a:avLst/>
          </a:prstGeom>
          <a:noFill/>
          <a:ln/>
        </p:spPr>
        <p:txBody>
          <a:bodyPr wrap="square" lIns="0" tIns="0" rIns="0" bIns="0" rtlCol="0" anchor="ctr">
            <a:normAutofit/>
          </a:bodyPr>
          <a:lstStyle/>
          <a:p>
            <a:pPr marL="0" indent="0" algn="l">
              <a:buNone/>
            </a:pPr>
            <a:r>
              <a:rPr lang="en-US" sz="2100" dirty="0">
                <a:solidFill>
                  <a:srgbClr val="083E17"/>
                </a:solidFill>
                <a:latin typeface="Instrument Serif" pitchFamily="34" charset="0"/>
                <a:ea typeface="Instrument Serif" pitchFamily="34" charset="-122"/>
                <a:cs typeface="Instrument Serif" pitchFamily="34" charset="-120"/>
              </a:rPr>
              <a:t>Your game is ready.</a:t>
            </a:r>
            <a:endParaRPr lang="en-US" sz="2100" dirty="0"/>
          </a:p>
        </p:txBody>
      </p:sp>
      <p:sp>
        <p:nvSpPr>
          <p:cNvPr id="14" name="Text 12"/>
          <p:cNvSpPr/>
          <p:nvPr/>
        </p:nvSpPr>
        <p:spPr>
          <a:xfrm>
            <a:off x="1664208" y="3703320"/>
            <a:ext cx="493776" cy="228600"/>
          </a:xfrm>
          <a:prstGeom prst="rect">
            <a:avLst/>
          </a:prstGeom>
          <a:noFill/>
          <a:ln/>
        </p:spPr>
        <p:txBody>
          <a:bodyPr wrap="square" lIns="0" tIns="0" rIns="0" bIns="0" rtlCol="0" anchor="ctr">
            <a:normAutofit/>
          </a:bodyPr>
          <a:lstStyle/>
          <a:p>
            <a:pPr marL="0" indent="0" algn="l">
              <a:buNone/>
            </a:pPr>
            <a:r>
              <a:rPr lang="en-US" sz="1100" b="1" dirty="0">
                <a:solidFill>
                  <a:srgbClr val="4E8A5E"/>
                </a:solidFill>
                <a:latin typeface="Avenir Next" pitchFamily="34" charset="0"/>
                <a:ea typeface="Avenir Next" pitchFamily="34" charset="-122"/>
                <a:cs typeface="Avenir Next" pitchFamily="34" charset="-120"/>
              </a:rPr>
              <a:t>Code</a:t>
            </a:r>
            <a:endParaRPr lang="en-US" sz="1100" dirty="0"/>
          </a:p>
        </p:txBody>
      </p:sp>
      <p:sp>
        <p:nvSpPr>
          <p:cNvPr id="15" name="Shape 13"/>
          <p:cNvSpPr/>
          <p:nvPr/>
        </p:nvSpPr>
        <p:spPr>
          <a:xfrm>
            <a:off x="2176272" y="3657600"/>
            <a:ext cx="1024128" cy="310896"/>
          </a:xfrm>
          <a:prstGeom prst="roundRect">
            <a:avLst>
              <a:gd name="adj" fmla="val 50000"/>
            </a:avLst>
          </a:prstGeom>
          <a:solidFill>
            <a:srgbClr val="DDEBD7"/>
          </a:solidFill>
          <a:ln w="12700">
            <a:solidFill>
              <a:srgbClr val="DDEBD7"/>
            </a:solidFill>
            <a:prstDash val="solid"/>
          </a:ln>
        </p:spPr>
        <p:txBody>
          <a:bodyPr/>
          <a:lstStyle/>
          <a:p>
            <a:endParaRPr lang="en-US"/>
          </a:p>
        </p:txBody>
      </p:sp>
      <p:sp>
        <p:nvSpPr>
          <p:cNvPr id="16" name="Text 14"/>
          <p:cNvSpPr/>
          <p:nvPr/>
        </p:nvSpPr>
        <p:spPr>
          <a:xfrm>
            <a:off x="2240280" y="3675888"/>
            <a:ext cx="896112" cy="256032"/>
          </a:xfrm>
          <a:prstGeom prst="rect">
            <a:avLst/>
          </a:prstGeom>
          <a:noFill/>
          <a:ln/>
        </p:spPr>
        <p:txBody>
          <a:bodyPr wrap="square" lIns="0" tIns="0" rIns="0" bIns="0" rtlCol="0" anchor="ctr">
            <a:normAutofit/>
          </a:bodyPr>
          <a:lstStyle/>
          <a:p>
            <a:pPr marL="0" indent="0" algn="ctr">
              <a:buNone/>
            </a:pPr>
            <a:r>
              <a:rPr lang="en-US" sz="1000" b="1" dirty="0">
                <a:solidFill>
                  <a:srgbClr val="083E17"/>
                </a:solidFill>
                <a:latin typeface="Avenir Next" pitchFamily="34" charset="0"/>
                <a:ea typeface="Avenir Next" pitchFamily="34" charset="-122"/>
                <a:cs typeface="Avenir Next" pitchFamily="34" charset="-120"/>
              </a:rPr>
              <a:t>WVQZC4</a:t>
            </a:r>
            <a:endParaRPr lang="en-US" sz="1000" dirty="0"/>
          </a:p>
        </p:txBody>
      </p:sp>
      <p:sp>
        <p:nvSpPr>
          <p:cNvPr id="17" name="Shape 15"/>
          <p:cNvSpPr/>
          <p:nvPr/>
        </p:nvSpPr>
        <p:spPr>
          <a:xfrm>
            <a:off x="1645920" y="4224528"/>
            <a:ext cx="1353312" cy="420624"/>
          </a:xfrm>
          <a:prstGeom prst="roundRect">
            <a:avLst>
              <a:gd name="adj" fmla="val 26087"/>
            </a:avLst>
          </a:prstGeom>
          <a:solidFill>
            <a:srgbClr val="083E17"/>
          </a:solidFill>
          <a:ln w="12700">
            <a:solidFill>
              <a:srgbClr val="083E17"/>
            </a:solidFill>
            <a:prstDash val="solid"/>
          </a:ln>
        </p:spPr>
        <p:txBody>
          <a:bodyPr/>
          <a:lstStyle/>
          <a:p>
            <a:endParaRPr lang="en-US"/>
          </a:p>
        </p:txBody>
      </p:sp>
      <p:sp>
        <p:nvSpPr>
          <p:cNvPr id="18" name="Text 16"/>
          <p:cNvSpPr/>
          <p:nvPr/>
        </p:nvSpPr>
        <p:spPr>
          <a:xfrm>
            <a:off x="1755648" y="4325112"/>
            <a:ext cx="1124712" cy="201168"/>
          </a:xfrm>
          <a:prstGeom prst="rect">
            <a:avLst/>
          </a:prstGeom>
          <a:noFill/>
          <a:ln/>
        </p:spPr>
        <p:txBody>
          <a:bodyPr wrap="square" lIns="0" tIns="0" rIns="0" bIns="0" rtlCol="0" anchor="ctr">
            <a:normAutofit/>
          </a:bodyPr>
          <a:lstStyle/>
          <a:p>
            <a:pPr marL="0" indent="0" algn="ctr">
              <a:buNone/>
            </a:pPr>
            <a:r>
              <a:rPr lang="en-US" sz="1100" b="1" dirty="0">
                <a:solidFill>
                  <a:srgbClr val="FFFDFC"/>
                </a:solidFill>
                <a:latin typeface="Avenir Next" pitchFamily="34" charset="0"/>
                <a:ea typeface="Avenir Next" pitchFamily="34" charset="-122"/>
                <a:cs typeface="Avenir Next" pitchFamily="34" charset="-120"/>
              </a:rPr>
              <a:t>Open host</a:t>
            </a:r>
            <a:endParaRPr lang="en-US" sz="1100" dirty="0"/>
          </a:p>
        </p:txBody>
      </p:sp>
      <p:sp>
        <p:nvSpPr>
          <p:cNvPr id="19" name="Shape 17"/>
          <p:cNvSpPr/>
          <p:nvPr/>
        </p:nvSpPr>
        <p:spPr>
          <a:xfrm>
            <a:off x="3136392" y="4224528"/>
            <a:ext cx="1353312" cy="420624"/>
          </a:xfrm>
          <a:prstGeom prst="roundRect">
            <a:avLst>
              <a:gd name="adj" fmla="val 26087"/>
            </a:avLst>
          </a:prstGeom>
          <a:solidFill>
            <a:srgbClr val="FFFDFC"/>
          </a:solidFill>
          <a:ln w="12700">
            <a:solidFill>
              <a:srgbClr val="0B6122"/>
            </a:solidFill>
            <a:prstDash val="solid"/>
          </a:ln>
        </p:spPr>
        <p:txBody>
          <a:bodyPr/>
          <a:lstStyle/>
          <a:p>
            <a:endParaRPr lang="en-US"/>
          </a:p>
        </p:txBody>
      </p:sp>
      <p:sp>
        <p:nvSpPr>
          <p:cNvPr id="20" name="Text 18"/>
          <p:cNvSpPr/>
          <p:nvPr/>
        </p:nvSpPr>
        <p:spPr>
          <a:xfrm>
            <a:off x="3246120" y="4325112"/>
            <a:ext cx="1124712" cy="201168"/>
          </a:xfrm>
          <a:prstGeom prst="rect">
            <a:avLst/>
          </a:prstGeom>
          <a:noFill/>
          <a:ln/>
        </p:spPr>
        <p:txBody>
          <a:bodyPr wrap="square" lIns="0" tIns="0" rIns="0" bIns="0" rtlCol="0" anchor="ctr">
            <a:normAutofit/>
          </a:bodyPr>
          <a:lstStyle/>
          <a:p>
            <a:pPr marL="0" indent="0" algn="ctr">
              <a:buNone/>
            </a:pPr>
            <a:r>
              <a:rPr lang="en-US" sz="1100" b="1" dirty="0">
                <a:solidFill>
                  <a:srgbClr val="0B6122"/>
                </a:solidFill>
                <a:latin typeface="Avenir Next" pitchFamily="34" charset="0"/>
                <a:ea typeface="Avenir Next" pitchFamily="34" charset="-122"/>
                <a:cs typeface="Avenir Next" pitchFamily="34" charset="-120"/>
              </a:rPr>
              <a:t>Play as you</a:t>
            </a:r>
            <a:endParaRPr lang="en-US" sz="1100" dirty="0"/>
          </a:p>
        </p:txBody>
      </p:sp>
      <p:sp>
        <p:nvSpPr>
          <p:cNvPr id="21" name="Text 19"/>
          <p:cNvSpPr/>
          <p:nvPr/>
        </p:nvSpPr>
        <p:spPr>
          <a:xfrm>
            <a:off x="1645920" y="4901184"/>
            <a:ext cx="3127248" cy="256032"/>
          </a:xfrm>
          <a:prstGeom prst="rect">
            <a:avLst/>
          </a:prstGeom>
          <a:noFill/>
          <a:ln/>
        </p:spPr>
        <p:txBody>
          <a:bodyPr wrap="square" lIns="0" tIns="0" rIns="0" bIns="0" rtlCol="0" anchor="ctr">
            <a:normAutofit/>
          </a:bodyPr>
          <a:lstStyle/>
          <a:p>
            <a:pPr marL="0" indent="0" algn="l">
              <a:buNone/>
            </a:pPr>
            <a:r>
              <a:rPr lang="en-US" sz="1200" i="1" dirty="0">
                <a:solidFill>
                  <a:srgbClr val="4E8A5E"/>
                </a:solidFill>
                <a:latin typeface="Avenir Next" pitchFamily="34" charset="0"/>
                <a:ea typeface="Avenir Next" pitchFamily="34" charset="-122"/>
                <a:cs typeface="Avenir Next" pitchFamily="34" charset="-120"/>
              </a:rPr>
              <a:t>Every answer grows your garden.</a:t>
            </a:r>
            <a:endParaRPr lang="en-US" sz="1200" dirty="0"/>
          </a:p>
        </p:txBody>
      </p:sp>
      <p:sp>
        <p:nvSpPr>
          <p:cNvPr id="22" name="Shape 20"/>
          <p:cNvSpPr/>
          <p:nvPr/>
        </p:nvSpPr>
        <p:spPr>
          <a:xfrm>
            <a:off x="6053328" y="1508760"/>
            <a:ext cx="2057400" cy="768096"/>
          </a:xfrm>
          <a:prstGeom prst="roundRect">
            <a:avLst>
              <a:gd name="adj" fmla="val 14286"/>
            </a:avLst>
          </a:prstGeom>
          <a:solidFill>
            <a:srgbClr val="083E17"/>
          </a:solidFill>
          <a:ln w="12700">
            <a:solidFill>
              <a:srgbClr val="083E17"/>
            </a:solidFill>
            <a:prstDash val="solid"/>
          </a:ln>
        </p:spPr>
        <p:txBody>
          <a:bodyPr/>
          <a:lstStyle/>
          <a:p>
            <a:endParaRPr lang="en-US"/>
          </a:p>
        </p:txBody>
      </p:sp>
      <p:sp>
        <p:nvSpPr>
          <p:cNvPr id="23" name="Text 21"/>
          <p:cNvSpPr/>
          <p:nvPr/>
        </p:nvSpPr>
        <p:spPr>
          <a:xfrm>
            <a:off x="6263640" y="1645920"/>
            <a:ext cx="1645920" cy="246888"/>
          </a:xfrm>
          <a:prstGeom prst="rect">
            <a:avLst/>
          </a:prstGeom>
          <a:noFill/>
          <a:ln/>
        </p:spPr>
        <p:txBody>
          <a:bodyPr wrap="square" lIns="0" tIns="0" rIns="0" bIns="0" rtlCol="0" anchor="ctr">
            <a:normAutofit/>
          </a:bodyPr>
          <a:lstStyle/>
          <a:p>
            <a:pPr marL="0" indent="0" algn="ctr">
              <a:buNone/>
            </a:pPr>
            <a:r>
              <a:rPr lang="en-US" sz="1700" dirty="0">
                <a:solidFill>
                  <a:srgbClr val="FFFDFC"/>
                </a:solidFill>
                <a:latin typeface="Instrument Serif" pitchFamily="34" charset="0"/>
                <a:ea typeface="Instrument Serif" pitchFamily="34" charset="-122"/>
                <a:cs typeface="Instrument Serif" pitchFamily="34" charset="-120"/>
              </a:rPr>
              <a:t>SPROUT</a:t>
            </a:r>
            <a:endParaRPr lang="en-US" sz="1700" dirty="0"/>
          </a:p>
        </p:txBody>
      </p:sp>
      <p:sp>
        <p:nvSpPr>
          <p:cNvPr id="24" name="Text 22"/>
          <p:cNvSpPr/>
          <p:nvPr/>
        </p:nvSpPr>
        <p:spPr>
          <a:xfrm>
            <a:off x="6272784" y="1965960"/>
            <a:ext cx="1627632" cy="164592"/>
          </a:xfrm>
          <a:prstGeom prst="rect">
            <a:avLst/>
          </a:prstGeom>
          <a:noFill/>
          <a:ln/>
        </p:spPr>
        <p:txBody>
          <a:bodyPr wrap="square" lIns="0" tIns="0" rIns="0" bIns="0" rtlCol="0" anchor="ctr">
            <a:normAutofit/>
          </a:bodyPr>
          <a:lstStyle/>
          <a:p>
            <a:pPr marL="0" indent="0" algn="ctr">
              <a:buNone/>
            </a:pPr>
            <a:r>
              <a:rPr lang="en-US" sz="900" dirty="0">
                <a:solidFill>
                  <a:srgbClr val="DDEBD7"/>
                </a:solidFill>
                <a:latin typeface="Avenir Next" pitchFamily="34" charset="0"/>
                <a:ea typeface="Avenir Next" pitchFamily="34" charset="-122"/>
                <a:cs typeface="Avenir Next" pitchFamily="34" charset="-120"/>
              </a:rPr>
              <a:t>routes the intent</a:t>
            </a:r>
            <a:endParaRPr lang="en-US" sz="900" dirty="0"/>
          </a:p>
        </p:txBody>
      </p:sp>
      <p:sp>
        <p:nvSpPr>
          <p:cNvPr id="25" name="Shape 23"/>
          <p:cNvSpPr/>
          <p:nvPr/>
        </p:nvSpPr>
        <p:spPr>
          <a:xfrm>
            <a:off x="8915400" y="1389888"/>
            <a:ext cx="2377440" cy="694944"/>
          </a:xfrm>
          <a:prstGeom prst="roundRect">
            <a:avLst>
              <a:gd name="adj" fmla="val 15789"/>
            </a:avLst>
          </a:prstGeom>
          <a:solidFill>
            <a:srgbClr val="FFFDFC"/>
          </a:solidFill>
          <a:ln w="12700">
            <a:solidFill>
              <a:srgbClr val="4E8A5E"/>
            </a:solidFill>
            <a:prstDash val="solid"/>
          </a:ln>
        </p:spPr>
        <p:txBody>
          <a:bodyPr/>
          <a:lstStyle/>
          <a:p>
            <a:endParaRPr lang="en-US"/>
          </a:p>
        </p:txBody>
      </p:sp>
      <p:sp>
        <p:nvSpPr>
          <p:cNvPr id="26" name="Text 24"/>
          <p:cNvSpPr/>
          <p:nvPr/>
        </p:nvSpPr>
        <p:spPr>
          <a:xfrm>
            <a:off x="9006840" y="1481328"/>
            <a:ext cx="2194560" cy="246888"/>
          </a:xfrm>
          <a:prstGeom prst="rect">
            <a:avLst/>
          </a:prstGeom>
          <a:noFill/>
          <a:ln/>
        </p:spPr>
        <p:txBody>
          <a:bodyPr wrap="square" lIns="0" tIns="0" rIns="0" bIns="0" rtlCol="0" anchor="ctr">
            <a:normAutofit/>
          </a:bodyPr>
          <a:lstStyle/>
          <a:p>
            <a:pPr marL="0" indent="0" algn="ctr">
              <a:buNone/>
            </a:pPr>
            <a:r>
              <a:rPr lang="en-US" sz="1800" dirty="0">
                <a:solidFill>
                  <a:srgbClr val="083E17"/>
                </a:solidFill>
                <a:latin typeface="Instrument Serif" pitchFamily="34" charset="0"/>
                <a:ea typeface="Instrument Serif" pitchFamily="34" charset="-122"/>
                <a:cs typeface="Instrument Serif" pitchFamily="34" charset="-120"/>
              </a:rPr>
              <a:t>CURRICULUM</a:t>
            </a:r>
            <a:endParaRPr lang="en-US" sz="1800" dirty="0"/>
          </a:p>
        </p:txBody>
      </p:sp>
      <p:sp>
        <p:nvSpPr>
          <p:cNvPr id="27" name="Text 25"/>
          <p:cNvSpPr/>
          <p:nvPr/>
        </p:nvSpPr>
        <p:spPr>
          <a:xfrm>
            <a:off x="9006840" y="1773936"/>
            <a:ext cx="2194560" cy="192024"/>
          </a:xfrm>
          <a:prstGeom prst="rect">
            <a:avLst/>
          </a:prstGeom>
          <a:noFill/>
          <a:ln/>
        </p:spPr>
        <p:txBody>
          <a:bodyPr wrap="square" lIns="0" tIns="0" rIns="0" bIns="0" rtlCol="0" anchor="ctr">
            <a:normAutofit/>
          </a:bodyPr>
          <a:lstStyle/>
          <a:p>
            <a:pPr marL="0" indent="0" algn="ctr">
              <a:buNone/>
            </a:pPr>
            <a:r>
              <a:rPr lang="en-US" sz="900" dirty="0">
                <a:solidFill>
                  <a:srgbClr val="4E8A5E"/>
                </a:solidFill>
                <a:latin typeface="Avenir Next" pitchFamily="34" charset="0"/>
                <a:ea typeface="Avenir Next" pitchFamily="34" charset="-122"/>
                <a:cs typeface="Avenir Next" pitchFamily="34" charset="-120"/>
              </a:rPr>
              <a:t>course structure</a:t>
            </a:r>
            <a:endParaRPr lang="en-US" sz="900" dirty="0"/>
          </a:p>
        </p:txBody>
      </p:sp>
      <p:sp>
        <p:nvSpPr>
          <p:cNvPr id="28" name="Shape 26"/>
          <p:cNvSpPr/>
          <p:nvPr/>
        </p:nvSpPr>
        <p:spPr>
          <a:xfrm>
            <a:off x="8915400" y="2386584"/>
            <a:ext cx="2377440" cy="694944"/>
          </a:xfrm>
          <a:prstGeom prst="roundRect">
            <a:avLst>
              <a:gd name="adj" fmla="val 15789"/>
            </a:avLst>
          </a:prstGeom>
          <a:solidFill>
            <a:srgbClr val="FFFDFC"/>
          </a:solidFill>
          <a:ln w="12700">
            <a:solidFill>
              <a:srgbClr val="4E8A5E"/>
            </a:solidFill>
            <a:prstDash val="solid"/>
          </a:ln>
        </p:spPr>
        <p:txBody>
          <a:bodyPr/>
          <a:lstStyle/>
          <a:p>
            <a:endParaRPr lang="en-US"/>
          </a:p>
        </p:txBody>
      </p:sp>
      <p:sp>
        <p:nvSpPr>
          <p:cNvPr id="29" name="Text 27"/>
          <p:cNvSpPr/>
          <p:nvPr/>
        </p:nvSpPr>
        <p:spPr>
          <a:xfrm>
            <a:off x="9006840" y="2478024"/>
            <a:ext cx="2194560" cy="246888"/>
          </a:xfrm>
          <a:prstGeom prst="rect">
            <a:avLst/>
          </a:prstGeom>
          <a:noFill/>
          <a:ln/>
        </p:spPr>
        <p:txBody>
          <a:bodyPr wrap="square" lIns="0" tIns="0" rIns="0" bIns="0" rtlCol="0" anchor="ctr">
            <a:normAutofit/>
          </a:bodyPr>
          <a:lstStyle/>
          <a:p>
            <a:pPr marL="0" indent="0" algn="ctr">
              <a:buNone/>
            </a:pPr>
            <a:r>
              <a:rPr lang="en-US" sz="1800" dirty="0">
                <a:solidFill>
                  <a:srgbClr val="083E17"/>
                </a:solidFill>
                <a:latin typeface="Instrument Serif" pitchFamily="34" charset="0"/>
                <a:ea typeface="Instrument Serif" pitchFamily="34" charset="-122"/>
                <a:cs typeface="Instrument Serif" pitchFamily="34" charset="-120"/>
              </a:rPr>
              <a:t>TUTOR</a:t>
            </a:r>
            <a:endParaRPr lang="en-US" sz="1800" dirty="0"/>
          </a:p>
        </p:txBody>
      </p:sp>
      <p:sp>
        <p:nvSpPr>
          <p:cNvPr id="30" name="Text 28"/>
          <p:cNvSpPr/>
          <p:nvPr/>
        </p:nvSpPr>
        <p:spPr>
          <a:xfrm>
            <a:off x="9006840" y="2770632"/>
            <a:ext cx="2194560" cy="192024"/>
          </a:xfrm>
          <a:prstGeom prst="rect">
            <a:avLst/>
          </a:prstGeom>
          <a:noFill/>
          <a:ln/>
        </p:spPr>
        <p:txBody>
          <a:bodyPr wrap="square" lIns="0" tIns="0" rIns="0" bIns="0" rtlCol="0" anchor="ctr">
            <a:normAutofit/>
          </a:bodyPr>
          <a:lstStyle/>
          <a:p>
            <a:pPr marL="0" indent="0" algn="ctr">
              <a:buNone/>
            </a:pPr>
            <a:r>
              <a:rPr lang="en-US" sz="900" dirty="0">
                <a:solidFill>
                  <a:srgbClr val="4E8A5E"/>
                </a:solidFill>
                <a:latin typeface="Avenir Next" pitchFamily="34" charset="0"/>
                <a:ea typeface="Avenir Next" pitchFamily="34" charset="-122"/>
                <a:cs typeface="Avenir Next" pitchFamily="34" charset="-120"/>
              </a:rPr>
              <a:t>questions + teaching</a:t>
            </a:r>
            <a:endParaRPr lang="en-US" sz="900" dirty="0"/>
          </a:p>
        </p:txBody>
      </p:sp>
      <p:sp>
        <p:nvSpPr>
          <p:cNvPr id="31" name="Shape 29"/>
          <p:cNvSpPr/>
          <p:nvPr/>
        </p:nvSpPr>
        <p:spPr>
          <a:xfrm>
            <a:off x="8915400" y="3383280"/>
            <a:ext cx="2377440" cy="694944"/>
          </a:xfrm>
          <a:prstGeom prst="roundRect">
            <a:avLst>
              <a:gd name="adj" fmla="val 15789"/>
            </a:avLst>
          </a:prstGeom>
          <a:solidFill>
            <a:srgbClr val="FFF7E7"/>
          </a:solidFill>
          <a:ln w="12700">
            <a:solidFill>
              <a:srgbClr val="E5B75A"/>
            </a:solidFill>
            <a:prstDash val="solid"/>
          </a:ln>
        </p:spPr>
        <p:txBody>
          <a:bodyPr/>
          <a:lstStyle/>
          <a:p>
            <a:endParaRPr lang="en-US"/>
          </a:p>
        </p:txBody>
      </p:sp>
      <p:sp>
        <p:nvSpPr>
          <p:cNvPr id="32" name="Text 30"/>
          <p:cNvSpPr/>
          <p:nvPr/>
        </p:nvSpPr>
        <p:spPr>
          <a:xfrm>
            <a:off x="9006840" y="3474720"/>
            <a:ext cx="2194560" cy="246888"/>
          </a:xfrm>
          <a:prstGeom prst="rect">
            <a:avLst/>
          </a:prstGeom>
          <a:noFill/>
          <a:ln/>
        </p:spPr>
        <p:txBody>
          <a:bodyPr wrap="square" lIns="0" tIns="0" rIns="0" bIns="0" rtlCol="0" anchor="ctr">
            <a:normAutofit/>
          </a:bodyPr>
          <a:lstStyle/>
          <a:p>
            <a:pPr marL="0" indent="0" algn="ctr">
              <a:buNone/>
            </a:pPr>
            <a:r>
              <a:rPr lang="en-US" sz="1800" dirty="0">
                <a:solidFill>
                  <a:srgbClr val="083E17"/>
                </a:solidFill>
                <a:latin typeface="Instrument Serif" pitchFamily="34" charset="0"/>
                <a:ea typeface="Instrument Serif" pitchFamily="34" charset="-122"/>
                <a:cs typeface="Instrument Serif" pitchFamily="34" charset="-120"/>
              </a:rPr>
              <a:t>ARCADE</a:t>
            </a:r>
            <a:endParaRPr lang="en-US" sz="1800" dirty="0"/>
          </a:p>
        </p:txBody>
      </p:sp>
      <p:sp>
        <p:nvSpPr>
          <p:cNvPr id="33" name="Text 31"/>
          <p:cNvSpPr/>
          <p:nvPr/>
        </p:nvSpPr>
        <p:spPr>
          <a:xfrm>
            <a:off x="9006840" y="3767328"/>
            <a:ext cx="2194560" cy="192024"/>
          </a:xfrm>
          <a:prstGeom prst="rect">
            <a:avLst/>
          </a:prstGeom>
          <a:noFill/>
          <a:ln/>
        </p:spPr>
        <p:txBody>
          <a:bodyPr wrap="square" lIns="0" tIns="0" rIns="0" bIns="0" rtlCol="0" anchor="ctr">
            <a:normAutofit/>
          </a:bodyPr>
          <a:lstStyle/>
          <a:p>
            <a:pPr marL="0" indent="0" algn="ctr">
              <a:buNone/>
            </a:pPr>
            <a:r>
              <a:rPr lang="en-US" sz="900" dirty="0">
                <a:solidFill>
                  <a:srgbClr val="4E8A5E"/>
                </a:solidFill>
                <a:latin typeface="Avenir Next" pitchFamily="34" charset="0"/>
                <a:ea typeface="Avenir Next" pitchFamily="34" charset="-122"/>
                <a:cs typeface="Avenir Next" pitchFamily="34" charset="-120"/>
              </a:rPr>
              <a:t>room + results</a:t>
            </a:r>
            <a:endParaRPr lang="en-US" sz="900" dirty="0"/>
          </a:p>
        </p:txBody>
      </p:sp>
      <p:sp>
        <p:nvSpPr>
          <p:cNvPr id="34" name="Shape 32"/>
          <p:cNvSpPr/>
          <p:nvPr/>
        </p:nvSpPr>
        <p:spPr>
          <a:xfrm>
            <a:off x="8915400" y="4379976"/>
            <a:ext cx="2377440" cy="694944"/>
          </a:xfrm>
          <a:prstGeom prst="roundRect">
            <a:avLst>
              <a:gd name="adj" fmla="val 15789"/>
            </a:avLst>
          </a:prstGeom>
          <a:solidFill>
            <a:srgbClr val="F0F6ED"/>
          </a:solidFill>
          <a:ln w="12700">
            <a:solidFill>
              <a:srgbClr val="4E8A5E"/>
            </a:solidFill>
            <a:prstDash val="solid"/>
          </a:ln>
        </p:spPr>
        <p:txBody>
          <a:bodyPr/>
          <a:lstStyle/>
          <a:p>
            <a:endParaRPr lang="en-US"/>
          </a:p>
        </p:txBody>
      </p:sp>
      <p:sp>
        <p:nvSpPr>
          <p:cNvPr id="35" name="Text 33"/>
          <p:cNvSpPr/>
          <p:nvPr/>
        </p:nvSpPr>
        <p:spPr>
          <a:xfrm>
            <a:off x="9006840" y="4471416"/>
            <a:ext cx="2194560" cy="246888"/>
          </a:xfrm>
          <a:prstGeom prst="rect">
            <a:avLst/>
          </a:prstGeom>
          <a:noFill/>
          <a:ln/>
        </p:spPr>
        <p:txBody>
          <a:bodyPr wrap="square" lIns="0" tIns="0" rIns="0" bIns="0" rtlCol="0" anchor="ctr">
            <a:normAutofit/>
          </a:bodyPr>
          <a:lstStyle/>
          <a:p>
            <a:pPr marL="0" indent="0" algn="ctr">
              <a:buNone/>
            </a:pPr>
            <a:r>
              <a:rPr lang="en-US" sz="1800" dirty="0">
                <a:solidFill>
                  <a:srgbClr val="083E17"/>
                </a:solidFill>
                <a:latin typeface="Instrument Serif" pitchFamily="34" charset="0"/>
                <a:ea typeface="Instrument Serif" pitchFamily="34" charset="-122"/>
                <a:cs typeface="Instrument Serif" pitchFamily="34" charset="-120"/>
              </a:rPr>
              <a:t>GARDEN</a:t>
            </a:r>
            <a:endParaRPr lang="en-US" sz="1800" dirty="0"/>
          </a:p>
        </p:txBody>
      </p:sp>
      <p:sp>
        <p:nvSpPr>
          <p:cNvPr id="36" name="Text 34"/>
          <p:cNvSpPr/>
          <p:nvPr/>
        </p:nvSpPr>
        <p:spPr>
          <a:xfrm>
            <a:off x="9006840" y="4764024"/>
            <a:ext cx="2194560" cy="192024"/>
          </a:xfrm>
          <a:prstGeom prst="rect">
            <a:avLst/>
          </a:prstGeom>
          <a:noFill/>
          <a:ln/>
        </p:spPr>
        <p:txBody>
          <a:bodyPr wrap="square" lIns="0" tIns="0" rIns="0" bIns="0" rtlCol="0" anchor="ctr">
            <a:normAutofit/>
          </a:bodyPr>
          <a:lstStyle/>
          <a:p>
            <a:pPr marL="0" indent="0" algn="ctr">
              <a:buNone/>
            </a:pPr>
            <a:r>
              <a:rPr lang="en-US" sz="900" dirty="0">
                <a:solidFill>
                  <a:srgbClr val="4E8A5E"/>
                </a:solidFill>
                <a:latin typeface="Avenir Next" pitchFamily="34" charset="0"/>
                <a:ea typeface="Avenir Next" pitchFamily="34" charset="-122"/>
                <a:cs typeface="Avenir Next" pitchFamily="34" charset="-120"/>
              </a:rPr>
              <a:t>updated mastery</a:t>
            </a:r>
            <a:endParaRPr lang="en-US" sz="900" dirty="0"/>
          </a:p>
        </p:txBody>
      </p:sp>
      <p:sp>
        <p:nvSpPr>
          <p:cNvPr id="37" name="Shape 35"/>
          <p:cNvSpPr/>
          <p:nvPr/>
        </p:nvSpPr>
        <p:spPr>
          <a:xfrm>
            <a:off x="8174736" y="1901952"/>
            <a:ext cx="667512" cy="0"/>
          </a:xfrm>
          <a:prstGeom prst="line">
            <a:avLst/>
          </a:prstGeom>
          <a:noFill/>
          <a:ln w="22860">
            <a:solidFill>
              <a:srgbClr val="4E8A5E"/>
            </a:solidFill>
            <a:prstDash val="solid"/>
            <a:headEnd type="none"/>
            <a:tailEnd type="triangle"/>
          </a:ln>
        </p:spPr>
        <p:txBody>
          <a:bodyPr/>
          <a:lstStyle/>
          <a:p>
            <a:endParaRPr lang="en-US"/>
          </a:p>
        </p:txBody>
      </p:sp>
      <p:sp>
        <p:nvSpPr>
          <p:cNvPr id="38" name="Shape 36"/>
          <p:cNvSpPr/>
          <p:nvPr/>
        </p:nvSpPr>
        <p:spPr>
          <a:xfrm>
            <a:off x="8174736" y="1901952"/>
            <a:ext cx="667512" cy="832104"/>
          </a:xfrm>
          <a:prstGeom prst="line">
            <a:avLst/>
          </a:prstGeom>
          <a:noFill/>
          <a:ln w="22860">
            <a:solidFill>
              <a:srgbClr val="4E8A5E"/>
            </a:solidFill>
            <a:prstDash val="solid"/>
            <a:headEnd type="none"/>
            <a:tailEnd type="triangle"/>
          </a:ln>
        </p:spPr>
        <p:txBody>
          <a:bodyPr/>
          <a:lstStyle/>
          <a:p>
            <a:endParaRPr lang="en-US"/>
          </a:p>
        </p:txBody>
      </p:sp>
      <p:sp>
        <p:nvSpPr>
          <p:cNvPr id="39" name="Shape 37"/>
          <p:cNvSpPr/>
          <p:nvPr/>
        </p:nvSpPr>
        <p:spPr>
          <a:xfrm>
            <a:off x="8174736" y="1901952"/>
            <a:ext cx="667512" cy="1828800"/>
          </a:xfrm>
          <a:prstGeom prst="line">
            <a:avLst/>
          </a:prstGeom>
          <a:noFill/>
          <a:ln w="22860">
            <a:solidFill>
              <a:srgbClr val="4E8A5E"/>
            </a:solidFill>
            <a:prstDash val="solid"/>
            <a:headEnd type="none"/>
            <a:tailEnd type="triangle"/>
          </a:ln>
        </p:spPr>
        <p:txBody>
          <a:bodyPr/>
          <a:lstStyle/>
          <a:p>
            <a:endParaRPr lang="en-US"/>
          </a:p>
        </p:txBody>
      </p:sp>
      <p:sp>
        <p:nvSpPr>
          <p:cNvPr id="40" name="Shape 38"/>
          <p:cNvSpPr/>
          <p:nvPr/>
        </p:nvSpPr>
        <p:spPr>
          <a:xfrm>
            <a:off x="8174736" y="1901952"/>
            <a:ext cx="667512" cy="2825496"/>
          </a:xfrm>
          <a:prstGeom prst="line">
            <a:avLst/>
          </a:prstGeom>
          <a:noFill/>
          <a:ln w="22860">
            <a:solidFill>
              <a:srgbClr val="4E8A5E"/>
            </a:solidFill>
            <a:prstDash val="solid"/>
            <a:headEnd type="none"/>
            <a:tailEnd type="triangle"/>
          </a:ln>
        </p:spPr>
        <p:txBody>
          <a:bodyPr/>
          <a:lstStyle/>
          <a:p>
            <a:endParaRPr lang="en-US"/>
          </a:p>
        </p:txBody>
      </p:sp>
      <p:sp>
        <p:nvSpPr>
          <p:cNvPr id="41" name="Shape 39"/>
          <p:cNvSpPr/>
          <p:nvPr/>
        </p:nvSpPr>
        <p:spPr>
          <a:xfrm>
            <a:off x="6080760" y="2542032"/>
            <a:ext cx="1965960" cy="310896"/>
          </a:xfrm>
          <a:prstGeom prst="roundRect">
            <a:avLst>
              <a:gd name="adj" fmla="val 50000"/>
            </a:avLst>
          </a:prstGeom>
          <a:solidFill>
            <a:srgbClr val="DDE8F2"/>
          </a:solidFill>
          <a:ln w="12700">
            <a:solidFill>
              <a:srgbClr val="DDE8F2"/>
            </a:solidFill>
            <a:prstDash val="solid"/>
          </a:ln>
        </p:spPr>
        <p:txBody>
          <a:bodyPr/>
          <a:lstStyle/>
          <a:p>
            <a:endParaRPr lang="en-US"/>
          </a:p>
        </p:txBody>
      </p:sp>
      <p:sp>
        <p:nvSpPr>
          <p:cNvPr id="42" name="Text 40"/>
          <p:cNvSpPr/>
          <p:nvPr/>
        </p:nvSpPr>
        <p:spPr>
          <a:xfrm>
            <a:off x="6144768" y="2560320"/>
            <a:ext cx="1837944" cy="256032"/>
          </a:xfrm>
          <a:prstGeom prst="rect">
            <a:avLst/>
          </a:prstGeom>
          <a:noFill/>
          <a:ln/>
        </p:spPr>
        <p:txBody>
          <a:bodyPr wrap="square" lIns="0" tIns="0" rIns="0" bIns="0" rtlCol="0" anchor="ctr">
            <a:normAutofit/>
          </a:bodyPr>
          <a:lstStyle/>
          <a:p>
            <a:pPr marL="0" indent="0" algn="ctr">
              <a:buNone/>
            </a:pPr>
            <a:r>
              <a:rPr lang="en-US" sz="1000" b="1" dirty="0">
                <a:solidFill>
                  <a:srgbClr val="28577A"/>
                </a:solidFill>
                <a:latin typeface="Avenir Next" pitchFamily="34" charset="0"/>
                <a:ea typeface="Avenir Next" pitchFamily="34" charset="-122"/>
                <a:cs typeface="Avenir Next" pitchFamily="34" charset="-120"/>
              </a:rPr>
              <a:t>Agent Chat Protocol</a:t>
            </a:r>
            <a:endParaRPr lang="en-US" sz="1000" dirty="0"/>
          </a:p>
        </p:txBody>
      </p:sp>
      <p:sp>
        <p:nvSpPr>
          <p:cNvPr id="43" name="Shape 41"/>
          <p:cNvSpPr/>
          <p:nvPr/>
        </p:nvSpPr>
        <p:spPr>
          <a:xfrm>
            <a:off x="6080760" y="3044952"/>
            <a:ext cx="1965960" cy="310896"/>
          </a:xfrm>
          <a:prstGeom prst="roundRect">
            <a:avLst>
              <a:gd name="adj" fmla="val 50000"/>
            </a:avLst>
          </a:prstGeom>
          <a:solidFill>
            <a:srgbClr val="DDE8F2"/>
          </a:solidFill>
          <a:ln w="12700">
            <a:solidFill>
              <a:srgbClr val="DDE8F2"/>
            </a:solidFill>
            <a:prstDash val="solid"/>
          </a:ln>
        </p:spPr>
        <p:txBody>
          <a:bodyPr/>
          <a:lstStyle/>
          <a:p>
            <a:endParaRPr lang="en-US"/>
          </a:p>
        </p:txBody>
      </p:sp>
      <p:sp>
        <p:nvSpPr>
          <p:cNvPr id="44" name="Text 42"/>
          <p:cNvSpPr/>
          <p:nvPr/>
        </p:nvSpPr>
        <p:spPr>
          <a:xfrm>
            <a:off x="6144768" y="3063240"/>
            <a:ext cx="1837944" cy="256032"/>
          </a:xfrm>
          <a:prstGeom prst="rect">
            <a:avLst/>
          </a:prstGeom>
          <a:noFill/>
          <a:ln/>
        </p:spPr>
        <p:txBody>
          <a:bodyPr wrap="square" lIns="0" tIns="0" rIns="0" bIns="0" rtlCol="0" anchor="ctr">
            <a:normAutofit/>
          </a:bodyPr>
          <a:lstStyle/>
          <a:p>
            <a:pPr marL="0" indent="0" algn="ctr">
              <a:buNone/>
            </a:pPr>
            <a:r>
              <a:rPr lang="en-US" sz="1000" b="1" dirty="0">
                <a:solidFill>
                  <a:srgbClr val="28577A"/>
                </a:solidFill>
                <a:latin typeface="Avenir Next" pitchFamily="34" charset="0"/>
                <a:ea typeface="Avenir Next" pitchFamily="34" charset="-122"/>
                <a:cs typeface="Avenir Next" pitchFamily="34" charset="-120"/>
              </a:rPr>
              <a:t>Agentverse discovery</a:t>
            </a:r>
            <a:endParaRPr lang="en-US" sz="1000" dirty="0"/>
          </a:p>
        </p:txBody>
      </p:sp>
      <p:sp>
        <p:nvSpPr>
          <p:cNvPr id="45" name="Shape 43"/>
          <p:cNvSpPr/>
          <p:nvPr/>
        </p:nvSpPr>
        <p:spPr>
          <a:xfrm>
            <a:off x="6080760" y="3547872"/>
            <a:ext cx="1965960" cy="310896"/>
          </a:xfrm>
          <a:prstGeom prst="roundRect">
            <a:avLst>
              <a:gd name="adj" fmla="val 50000"/>
            </a:avLst>
          </a:prstGeom>
          <a:solidFill>
            <a:srgbClr val="DDE8F2"/>
          </a:solidFill>
          <a:ln w="12700">
            <a:solidFill>
              <a:srgbClr val="DDE8F2"/>
            </a:solidFill>
            <a:prstDash val="solid"/>
          </a:ln>
        </p:spPr>
        <p:txBody>
          <a:bodyPr/>
          <a:lstStyle/>
          <a:p>
            <a:endParaRPr lang="en-US"/>
          </a:p>
        </p:txBody>
      </p:sp>
      <p:sp>
        <p:nvSpPr>
          <p:cNvPr id="46" name="Text 44"/>
          <p:cNvSpPr/>
          <p:nvPr/>
        </p:nvSpPr>
        <p:spPr>
          <a:xfrm>
            <a:off x="6144768" y="3566160"/>
            <a:ext cx="1837944" cy="256032"/>
          </a:xfrm>
          <a:prstGeom prst="rect">
            <a:avLst/>
          </a:prstGeom>
          <a:noFill/>
          <a:ln/>
        </p:spPr>
        <p:txBody>
          <a:bodyPr wrap="square" lIns="0" tIns="0" rIns="0" bIns="0" rtlCol="0" anchor="ctr">
            <a:normAutofit/>
          </a:bodyPr>
          <a:lstStyle/>
          <a:p>
            <a:pPr marL="0" indent="0" algn="ctr">
              <a:buNone/>
            </a:pPr>
            <a:r>
              <a:rPr lang="en-US" sz="1000" b="1" dirty="0">
                <a:solidFill>
                  <a:srgbClr val="28577A"/>
                </a:solidFill>
                <a:latin typeface="Avenir Next" pitchFamily="34" charset="0"/>
                <a:ea typeface="Avenir Next" pitchFamily="34" charset="-122"/>
                <a:cs typeface="Avenir Next" pitchFamily="34" charset="-120"/>
              </a:rPr>
              <a:t>interactive cards</a:t>
            </a:r>
            <a:endParaRPr lang="en-US" sz="1000" dirty="0"/>
          </a:p>
        </p:txBody>
      </p:sp>
      <p:sp>
        <p:nvSpPr>
          <p:cNvPr id="47" name="Text 45"/>
          <p:cNvSpPr/>
          <p:nvPr/>
        </p:nvSpPr>
        <p:spPr>
          <a:xfrm>
            <a:off x="6007608" y="5504688"/>
            <a:ext cx="5394960" cy="310896"/>
          </a:xfrm>
          <a:prstGeom prst="rect">
            <a:avLst/>
          </a:prstGeom>
          <a:noFill/>
          <a:ln/>
        </p:spPr>
        <p:txBody>
          <a:bodyPr wrap="square" lIns="0" tIns="0" rIns="0" bIns="0" rtlCol="0" anchor="ctr">
            <a:normAutofit/>
          </a:bodyPr>
          <a:lstStyle/>
          <a:p>
            <a:pPr marL="0" indent="0" algn="ctr">
              <a:buNone/>
            </a:pPr>
            <a:r>
              <a:rPr lang="en-US" sz="1500" b="1" dirty="0">
                <a:solidFill>
                  <a:srgbClr val="083E17"/>
                </a:solidFill>
                <a:latin typeface="Avenir Next" pitchFamily="34" charset="0"/>
                <a:ea typeface="Avenir Next" pitchFamily="34" charset="-122"/>
                <a:cs typeface="Avenir Next" pitchFamily="34" charset="-120"/>
              </a:rPr>
              <a:t>The chat initiates actions; it does not own the learning logic.</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EFE3"/>
        </a:solidFill>
        <a:effectLst/>
      </p:bgPr>
    </p:bg>
    <p:spTree>
      <p:nvGrpSpPr>
        <p:cNvPr id="1" name=""/>
        <p:cNvGrpSpPr/>
        <p:nvPr/>
      </p:nvGrpSpPr>
      <p:grpSpPr>
        <a:xfrm>
          <a:off x="0" y="0"/>
          <a:ext cx="0" cy="0"/>
          <a:chOff x="0" y="0"/>
          <a:chExt cx="0" cy="0"/>
        </a:xfrm>
      </p:grpSpPr>
      <p:sp>
        <p:nvSpPr>
          <p:cNvPr id="2" name="Shape 0"/>
          <p:cNvSpPr/>
          <p:nvPr/>
        </p:nvSpPr>
        <p:spPr>
          <a:xfrm>
            <a:off x="548640" y="6510528"/>
            <a:ext cx="11091672" cy="0"/>
          </a:xfrm>
          <a:prstGeom prst="line">
            <a:avLst/>
          </a:prstGeom>
          <a:noFill/>
          <a:ln w="12700">
            <a:solidFill>
              <a:srgbClr val="D8CDBE"/>
            </a:solidFill>
            <a:prstDash val="solid"/>
          </a:ln>
        </p:spPr>
        <p:txBody>
          <a:bodyPr/>
          <a:lstStyle/>
          <a:p>
            <a:endParaRPr lang="en-US"/>
          </a:p>
        </p:txBody>
      </p:sp>
      <p:sp>
        <p:nvSpPr>
          <p:cNvPr id="3" name="Text 1"/>
          <p:cNvSpPr/>
          <p:nvPr/>
        </p:nvSpPr>
        <p:spPr>
          <a:xfrm>
            <a:off x="585216" y="6547104"/>
            <a:ext cx="2834640" cy="182880"/>
          </a:xfrm>
          <a:prstGeom prst="rect">
            <a:avLst/>
          </a:prstGeom>
          <a:noFill/>
          <a:ln/>
        </p:spPr>
        <p:txBody>
          <a:bodyPr wrap="square" lIns="0" tIns="0" rIns="0" bIns="0" rtlCol="0" anchor="ctr">
            <a:normAutofit/>
          </a:bodyPr>
          <a:lstStyle/>
          <a:p>
            <a:pPr marL="0" indent="0" algn="l">
              <a:buNone/>
            </a:pPr>
            <a:r>
              <a:rPr lang="en-US" sz="800" dirty="0">
                <a:solidFill>
                  <a:srgbClr val="64806B"/>
                </a:solidFill>
                <a:latin typeface="Avenir Next" pitchFamily="34" charset="0"/>
                <a:ea typeface="Avenir Next" pitchFamily="34" charset="-122"/>
                <a:cs typeface="Avenir Next" pitchFamily="34" charset="-120"/>
              </a:rPr>
              <a:t>SPROUT · MHACKS 2026</a:t>
            </a:r>
            <a:endParaRPr lang="en-US" sz="800" dirty="0"/>
          </a:p>
        </p:txBody>
      </p:sp>
      <p:sp>
        <p:nvSpPr>
          <p:cNvPr id="4" name="Text 2"/>
          <p:cNvSpPr/>
          <p:nvPr/>
        </p:nvSpPr>
        <p:spPr>
          <a:xfrm>
            <a:off x="11201400" y="6519672"/>
            <a:ext cx="365760" cy="182880"/>
          </a:xfrm>
          <a:prstGeom prst="rect">
            <a:avLst/>
          </a:prstGeom>
          <a:noFill/>
          <a:ln/>
        </p:spPr>
        <p:txBody>
          <a:bodyPr wrap="square" lIns="0" tIns="0" rIns="0" bIns="0" rtlCol="0" anchor="ctr">
            <a:normAutofit/>
          </a:bodyPr>
          <a:lstStyle/>
          <a:p>
            <a:pPr marL="0" indent="0" algn="r">
              <a:buNone/>
            </a:pPr>
            <a:r>
              <a:rPr lang="en-US" sz="800" dirty="0">
                <a:solidFill>
                  <a:srgbClr val="64806B"/>
                </a:solidFill>
                <a:latin typeface="Avenir Next" pitchFamily="34" charset="0"/>
                <a:ea typeface="Avenir Next" pitchFamily="34" charset="-122"/>
                <a:cs typeface="Avenir Next" pitchFamily="34" charset="-120"/>
              </a:rPr>
              <a:t>5</a:t>
            </a:r>
            <a:endParaRPr lang="en-US" sz="800" dirty="0"/>
          </a:p>
        </p:txBody>
      </p:sp>
      <p:sp>
        <p:nvSpPr>
          <p:cNvPr id="5" name="Text 3"/>
          <p:cNvSpPr/>
          <p:nvPr/>
        </p:nvSpPr>
        <p:spPr>
          <a:xfrm>
            <a:off x="658368" y="384048"/>
            <a:ext cx="10789920" cy="585216"/>
          </a:xfrm>
          <a:prstGeom prst="rect">
            <a:avLst/>
          </a:prstGeom>
          <a:noFill/>
          <a:ln/>
        </p:spPr>
        <p:txBody>
          <a:bodyPr wrap="square" lIns="0" tIns="0" rIns="0" bIns="0" rtlCol="0" anchor="ctr">
            <a:normAutofit/>
          </a:bodyPr>
          <a:lstStyle/>
          <a:p>
            <a:pPr marL="0" indent="0" algn="l">
              <a:buNone/>
            </a:pPr>
            <a:r>
              <a:rPr lang="en-US" sz="3100" dirty="0">
                <a:solidFill>
                  <a:srgbClr val="083E17"/>
                </a:solidFill>
                <a:latin typeface="Instrument Serif" pitchFamily="34" charset="0"/>
                <a:ea typeface="Instrument Serif" pitchFamily="34" charset="-122"/>
                <a:cs typeface="Instrument Serif" pitchFamily="34" charset="-120"/>
              </a:rPr>
              <a:t>One answer changes the entire system.</a:t>
            </a:r>
            <a:endParaRPr lang="en-US" sz="3100" dirty="0"/>
          </a:p>
        </p:txBody>
      </p:sp>
      <p:sp>
        <p:nvSpPr>
          <p:cNvPr id="6" name="Text 4"/>
          <p:cNvSpPr/>
          <p:nvPr/>
        </p:nvSpPr>
        <p:spPr>
          <a:xfrm>
            <a:off x="685800" y="969264"/>
            <a:ext cx="10515600" cy="292608"/>
          </a:xfrm>
          <a:prstGeom prst="rect">
            <a:avLst/>
          </a:prstGeom>
          <a:noFill/>
          <a:ln/>
        </p:spPr>
        <p:txBody>
          <a:bodyPr wrap="square" lIns="0" tIns="0" rIns="0" bIns="0" rtlCol="0" anchor="ctr">
            <a:normAutofit/>
          </a:bodyPr>
          <a:lstStyle/>
          <a:p>
            <a:pPr marL="0" indent="0" algn="l">
              <a:buNone/>
            </a:pPr>
            <a:r>
              <a:rPr lang="en-US" sz="1300" dirty="0">
                <a:solidFill>
                  <a:srgbClr val="4E8A5E"/>
                </a:solidFill>
                <a:latin typeface="Avenir Next" pitchFamily="34" charset="0"/>
                <a:ea typeface="Avenir Next" pitchFamily="34" charset="-122"/>
                <a:cs typeface="Avenir Next" pitchFamily="34" charset="-120"/>
              </a:rPr>
              <a:t>Tutor teaches; SpacetimeDB updates the model; Learn and Garden immediately see the result.</a:t>
            </a:r>
            <a:endParaRPr lang="en-US" sz="1300" dirty="0"/>
          </a:p>
        </p:txBody>
      </p:sp>
      <p:sp>
        <p:nvSpPr>
          <p:cNvPr id="7" name="Shape 5"/>
          <p:cNvSpPr/>
          <p:nvPr/>
        </p:nvSpPr>
        <p:spPr>
          <a:xfrm>
            <a:off x="585216" y="1316736"/>
            <a:ext cx="5952744" cy="3383280"/>
          </a:xfrm>
          <a:prstGeom prst="roundRect">
            <a:avLst>
              <a:gd name="adj" fmla="val 3243"/>
            </a:avLst>
          </a:prstGeom>
          <a:solidFill>
            <a:srgbClr val="FFFDFC"/>
          </a:solidFill>
          <a:ln w="12700">
            <a:solidFill>
              <a:srgbClr val="CBBEA9"/>
            </a:solidFill>
            <a:prstDash val="solid"/>
          </a:ln>
        </p:spPr>
        <p:txBody>
          <a:bodyPr/>
          <a:lstStyle/>
          <a:p>
            <a:endParaRPr lang="en-US"/>
          </a:p>
        </p:txBody>
      </p:sp>
      <p:pic>
        <p:nvPicPr>
          <p:cNvPr id="8" name="Image 0" descr="/Users/ashmith/sprout/web/public/showcase/mastery.jpg"/>
          <p:cNvPicPr>
            <a:picLocks noChangeAspect="1"/>
          </p:cNvPicPr>
          <p:nvPr/>
        </p:nvPicPr>
        <p:blipFill>
          <a:blip r:embed="rId3"/>
          <a:stretch>
            <a:fillRect/>
          </a:stretch>
        </p:blipFill>
        <p:spPr>
          <a:xfrm>
            <a:off x="621792" y="1353312"/>
            <a:ext cx="5879592" cy="3310128"/>
          </a:xfrm>
          <a:prstGeom prst="rect">
            <a:avLst/>
          </a:prstGeom>
        </p:spPr>
      </p:pic>
      <p:sp>
        <p:nvSpPr>
          <p:cNvPr id="9" name="Shape 6"/>
          <p:cNvSpPr/>
          <p:nvPr/>
        </p:nvSpPr>
        <p:spPr>
          <a:xfrm>
            <a:off x="6903720" y="1426464"/>
            <a:ext cx="4590288" cy="713232"/>
          </a:xfrm>
          <a:prstGeom prst="roundRect">
            <a:avLst>
              <a:gd name="adj" fmla="val 15385"/>
            </a:avLst>
          </a:prstGeom>
          <a:solidFill>
            <a:srgbClr val="F0F6ED"/>
          </a:solidFill>
          <a:ln w="12700">
            <a:solidFill>
              <a:srgbClr val="D7CCBD"/>
            </a:solidFill>
            <a:prstDash val="solid"/>
          </a:ln>
        </p:spPr>
        <p:txBody>
          <a:bodyPr/>
          <a:lstStyle/>
          <a:p>
            <a:endParaRPr lang="en-US"/>
          </a:p>
        </p:txBody>
      </p:sp>
      <p:sp>
        <p:nvSpPr>
          <p:cNvPr id="10" name="Shape 7"/>
          <p:cNvSpPr/>
          <p:nvPr/>
        </p:nvSpPr>
        <p:spPr>
          <a:xfrm>
            <a:off x="7114032" y="1627632"/>
            <a:ext cx="822960" cy="310896"/>
          </a:xfrm>
          <a:prstGeom prst="roundRect">
            <a:avLst>
              <a:gd name="adj" fmla="val 50000"/>
            </a:avLst>
          </a:prstGeom>
          <a:solidFill>
            <a:srgbClr val="DDEBD7"/>
          </a:solidFill>
          <a:ln w="12700">
            <a:solidFill>
              <a:srgbClr val="DDEBD7"/>
            </a:solidFill>
            <a:prstDash val="solid"/>
          </a:ln>
        </p:spPr>
        <p:txBody>
          <a:bodyPr/>
          <a:lstStyle/>
          <a:p>
            <a:endParaRPr lang="en-US"/>
          </a:p>
        </p:txBody>
      </p:sp>
      <p:sp>
        <p:nvSpPr>
          <p:cNvPr id="11" name="Text 8"/>
          <p:cNvSpPr/>
          <p:nvPr/>
        </p:nvSpPr>
        <p:spPr>
          <a:xfrm>
            <a:off x="7178040" y="1645920"/>
            <a:ext cx="694944" cy="256032"/>
          </a:xfrm>
          <a:prstGeom prst="rect">
            <a:avLst/>
          </a:prstGeom>
          <a:noFill/>
          <a:ln/>
        </p:spPr>
        <p:txBody>
          <a:bodyPr wrap="square" lIns="0" tIns="0" rIns="0" bIns="0" rtlCol="0" anchor="ctr">
            <a:normAutofit/>
          </a:bodyPr>
          <a:lstStyle/>
          <a:p>
            <a:pPr marL="0" indent="0" algn="ctr">
              <a:buNone/>
            </a:pPr>
            <a:r>
              <a:rPr lang="en-US" sz="1000" b="1" dirty="0">
                <a:solidFill>
                  <a:srgbClr val="083E17"/>
                </a:solidFill>
                <a:latin typeface="Avenir Next" pitchFamily="34" charset="0"/>
                <a:ea typeface="Avenir Next" pitchFamily="34" charset="-122"/>
                <a:cs typeface="Avenir Next" pitchFamily="34" charset="-120"/>
              </a:rPr>
              <a:t>BKT</a:t>
            </a:r>
            <a:endParaRPr lang="en-US" sz="1000" dirty="0"/>
          </a:p>
        </p:txBody>
      </p:sp>
      <p:sp>
        <p:nvSpPr>
          <p:cNvPr id="12" name="Text 9"/>
          <p:cNvSpPr/>
          <p:nvPr/>
        </p:nvSpPr>
        <p:spPr>
          <a:xfrm>
            <a:off x="8119872" y="1609344"/>
            <a:ext cx="1435608" cy="274320"/>
          </a:xfrm>
          <a:prstGeom prst="rect">
            <a:avLst/>
          </a:prstGeom>
          <a:noFill/>
          <a:ln/>
        </p:spPr>
        <p:txBody>
          <a:bodyPr wrap="square" lIns="0" tIns="0" rIns="0" bIns="0" rtlCol="0" anchor="ctr">
            <a:normAutofit/>
          </a:bodyPr>
          <a:lstStyle/>
          <a:p>
            <a:pPr marL="0" indent="0" algn="l">
              <a:buNone/>
            </a:pPr>
            <a:r>
              <a:rPr lang="en-US" sz="1300" b="1" dirty="0">
                <a:solidFill>
                  <a:srgbClr val="4E8A5E"/>
                </a:solidFill>
                <a:latin typeface="Avenir Next" pitchFamily="34" charset="0"/>
                <a:ea typeface="Avenir Next" pitchFamily="34" charset="-122"/>
                <a:cs typeface="Avenir Next" pitchFamily="34" charset="-120"/>
              </a:rPr>
              <a:t>mastery</a:t>
            </a:r>
            <a:endParaRPr lang="en-US" sz="1300" dirty="0"/>
          </a:p>
        </p:txBody>
      </p:sp>
      <p:sp>
        <p:nvSpPr>
          <p:cNvPr id="13" name="Text 10"/>
          <p:cNvSpPr/>
          <p:nvPr/>
        </p:nvSpPr>
        <p:spPr>
          <a:xfrm>
            <a:off x="9454896" y="1591056"/>
            <a:ext cx="1764792" cy="310896"/>
          </a:xfrm>
          <a:prstGeom prst="rect">
            <a:avLst/>
          </a:prstGeom>
          <a:noFill/>
          <a:ln/>
        </p:spPr>
        <p:txBody>
          <a:bodyPr wrap="square" lIns="0" tIns="0" rIns="0" bIns="0" rtlCol="0" anchor="ctr">
            <a:normAutofit/>
          </a:bodyPr>
          <a:lstStyle/>
          <a:p>
            <a:pPr marL="0" indent="0" algn="r">
              <a:buNone/>
            </a:pPr>
            <a:r>
              <a:rPr lang="en-US" sz="1500" b="1" dirty="0">
                <a:solidFill>
                  <a:srgbClr val="0B6122"/>
                </a:solidFill>
                <a:latin typeface="Avenir Next" pitchFamily="34" charset="0"/>
                <a:ea typeface="Avenir Next" pitchFamily="34" charset="-122"/>
                <a:cs typeface="Avenir Next" pitchFamily="34" charset="-120"/>
              </a:rPr>
              <a:t>84%</a:t>
            </a:r>
            <a:endParaRPr lang="en-US" sz="1500" dirty="0"/>
          </a:p>
        </p:txBody>
      </p:sp>
      <p:sp>
        <p:nvSpPr>
          <p:cNvPr id="14" name="Shape 11"/>
          <p:cNvSpPr/>
          <p:nvPr/>
        </p:nvSpPr>
        <p:spPr>
          <a:xfrm>
            <a:off x="6903720" y="2340864"/>
            <a:ext cx="4590288" cy="713232"/>
          </a:xfrm>
          <a:prstGeom prst="roundRect">
            <a:avLst>
              <a:gd name="adj" fmla="val 15385"/>
            </a:avLst>
          </a:prstGeom>
          <a:solidFill>
            <a:srgbClr val="FFFDFC"/>
          </a:solidFill>
          <a:ln w="12700">
            <a:solidFill>
              <a:srgbClr val="D7CCBD"/>
            </a:solidFill>
            <a:prstDash val="solid"/>
          </a:ln>
        </p:spPr>
        <p:txBody>
          <a:bodyPr/>
          <a:lstStyle/>
          <a:p>
            <a:endParaRPr lang="en-US"/>
          </a:p>
        </p:txBody>
      </p:sp>
      <p:sp>
        <p:nvSpPr>
          <p:cNvPr id="15" name="Shape 12"/>
          <p:cNvSpPr/>
          <p:nvPr/>
        </p:nvSpPr>
        <p:spPr>
          <a:xfrm>
            <a:off x="7114032" y="2542032"/>
            <a:ext cx="822960" cy="310896"/>
          </a:xfrm>
          <a:prstGeom prst="roundRect">
            <a:avLst>
              <a:gd name="adj" fmla="val 50000"/>
            </a:avLst>
          </a:prstGeom>
          <a:solidFill>
            <a:srgbClr val="DDEBD7"/>
          </a:solidFill>
          <a:ln w="12700">
            <a:solidFill>
              <a:srgbClr val="DDEBD7"/>
            </a:solidFill>
            <a:prstDash val="solid"/>
          </a:ln>
        </p:spPr>
        <p:txBody>
          <a:bodyPr/>
          <a:lstStyle/>
          <a:p>
            <a:endParaRPr lang="en-US"/>
          </a:p>
        </p:txBody>
      </p:sp>
      <p:sp>
        <p:nvSpPr>
          <p:cNvPr id="16" name="Text 13"/>
          <p:cNvSpPr/>
          <p:nvPr/>
        </p:nvSpPr>
        <p:spPr>
          <a:xfrm>
            <a:off x="7178040" y="2560320"/>
            <a:ext cx="694944" cy="256032"/>
          </a:xfrm>
          <a:prstGeom prst="rect">
            <a:avLst/>
          </a:prstGeom>
          <a:noFill/>
          <a:ln/>
        </p:spPr>
        <p:txBody>
          <a:bodyPr wrap="square" lIns="0" tIns="0" rIns="0" bIns="0" rtlCol="0" anchor="ctr">
            <a:normAutofit/>
          </a:bodyPr>
          <a:lstStyle/>
          <a:p>
            <a:pPr marL="0" indent="0" algn="ctr">
              <a:buNone/>
            </a:pPr>
            <a:r>
              <a:rPr lang="en-US" sz="1000" b="1" dirty="0">
                <a:solidFill>
                  <a:srgbClr val="083E17"/>
                </a:solidFill>
                <a:latin typeface="Avenir Next" pitchFamily="34" charset="0"/>
                <a:ea typeface="Avenir Next" pitchFamily="34" charset="-122"/>
                <a:cs typeface="Avenir Next" pitchFamily="34" charset="-120"/>
              </a:rPr>
              <a:t>SM-2</a:t>
            </a:r>
            <a:endParaRPr lang="en-US" sz="1000" dirty="0"/>
          </a:p>
        </p:txBody>
      </p:sp>
      <p:sp>
        <p:nvSpPr>
          <p:cNvPr id="17" name="Text 14"/>
          <p:cNvSpPr/>
          <p:nvPr/>
        </p:nvSpPr>
        <p:spPr>
          <a:xfrm>
            <a:off x="8119872" y="2523744"/>
            <a:ext cx="1435608" cy="274320"/>
          </a:xfrm>
          <a:prstGeom prst="rect">
            <a:avLst/>
          </a:prstGeom>
          <a:noFill/>
          <a:ln/>
        </p:spPr>
        <p:txBody>
          <a:bodyPr wrap="square" lIns="0" tIns="0" rIns="0" bIns="0" rtlCol="0" anchor="ctr">
            <a:normAutofit/>
          </a:bodyPr>
          <a:lstStyle/>
          <a:p>
            <a:pPr marL="0" indent="0" algn="l">
              <a:buNone/>
            </a:pPr>
            <a:r>
              <a:rPr lang="en-US" sz="1300" b="1" dirty="0">
                <a:solidFill>
                  <a:srgbClr val="4E8A5E"/>
                </a:solidFill>
                <a:latin typeface="Avenir Next" pitchFamily="34" charset="0"/>
                <a:ea typeface="Avenir Next" pitchFamily="34" charset="-122"/>
                <a:cs typeface="Avenir Next" pitchFamily="34" charset="-120"/>
              </a:rPr>
              <a:t>next review</a:t>
            </a:r>
            <a:endParaRPr lang="en-US" sz="1300" dirty="0"/>
          </a:p>
        </p:txBody>
      </p:sp>
      <p:sp>
        <p:nvSpPr>
          <p:cNvPr id="18" name="Text 15"/>
          <p:cNvSpPr/>
          <p:nvPr/>
        </p:nvSpPr>
        <p:spPr>
          <a:xfrm>
            <a:off x="9454896" y="2505456"/>
            <a:ext cx="1764792" cy="310896"/>
          </a:xfrm>
          <a:prstGeom prst="rect">
            <a:avLst/>
          </a:prstGeom>
          <a:noFill/>
          <a:ln/>
        </p:spPr>
        <p:txBody>
          <a:bodyPr wrap="square" lIns="0" tIns="0" rIns="0" bIns="0" rtlCol="0" anchor="ctr">
            <a:normAutofit/>
          </a:bodyPr>
          <a:lstStyle/>
          <a:p>
            <a:pPr marL="0" indent="0" algn="r">
              <a:buNone/>
            </a:pPr>
            <a:r>
              <a:rPr lang="en-US" sz="1500" b="1" dirty="0">
                <a:solidFill>
                  <a:srgbClr val="0B6122"/>
                </a:solidFill>
                <a:latin typeface="Avenir Next" pitchFamily="34" charset="0"/>
                <a:ea typeface="Avenir Next" pitchFamily="34" charset="-122"/>
                <a:cs typeface="Avenir Next" pitchFamily="34" charset="-120"/>
              </a:rPr>
              <a:t>1 day</a:t>
            </a:r>
            <a:endParaRPr lang="en-US" sz="1500" dirty="0"/>
          </a:p>
        </p:txBody>
      </p:sp>
      <p:sp>
        <p:nvSpPr>
          <p:cNvPr id="19" name="Shape 16"/>
          <p:cNvSpPr/>
          <p:nvPr/>
        </p:nvSpPr>
        <p:spPr>
          <a:xfrm>
            <a:off x="6903720" y="3255264"/>
            <a:ext cx="4590288" cy="713232"/>
          </a:xfrm>
          <a:prstGeom prst="roundRect">
            <a:avLst>
              <a:gd name="adj" fmla="val 15385"/>
            </a:avLst>
          </a:prstGeom>
          <a:solidFill>
            <a:srgbClr val="FFFDFC"/>
          </a:solidFill>
          <a:ln w="12700">
            <a:solidFill>
              <a:srgbClr val="D7CCBD"/>
            </a:solidFill>
            <a:prstDash val="solid"/>
          </a:ln>
        </p:spPr>
        <p:txBody>
          <a:bodyPr/>
          <a:lstStyle/>
          <a:p>
            <a:endParaRPr lang="en-US"/>
          </a:p>
        </p:txBody>
      </p:sp>
      <p:sp>
        <p:nvSpPr>
          <p:cNvPr id="20" name="Shape 17"/>
          <p:cNvSpPr/>
          <p:nvPr/>
        </p:nvSpPr>
        <p:spPr>
          <a:xfrm>
            <a:off x="7114032" y="3456432"/>
            <a:ext cx="822960" cy="310896"/>
          </a:xfrm>
          <a:prstGeom prst="roundRect">
            <a:avLst>
              <a:gd name="adj" fmla="val 50000"/>
            </a:avLst>
          </a:prstGeom>
          <a:solidFill>
            <a:srgbClr val="FFF2D5"/>
          </a:solidFill>
          <a:ln w="12700">
            <a:solidFill>
              <a:srgbClr val="FFF2D5"/>
            </a:solidFill>
            <a:prstDash val="solid"/>
          </a:ln>
        </p:spPr>
        <p:txBody>
          <a:bodyPr/>
          <a:lstStyle/>
          <a:p>
            <a:endParaRPr lang="en-US"/>
          </a:p>
        </p:txBody>
      </p:sp>
      <p:sp>
        <p:nvSpPr>
          <p:cNvPr id="21" name="Text 18"/>
          <p:cNvSpPr/>
          <p:nvPr/>
        </p:nvSpPr>
        <p:spPr>
          <a:xfrm>
            <a:off x="7178040" y="3474720"/>
            <a:ext cx="694944" cy="256032"/>
          </a:xfrm>
          <a:prstGeom prst="rect">
            <a:avLst/>
          </a:prstGeom>
          <a:noFill/>
          <a:ln/>
        </p:spPr>
        <p:txBody>
          <a:bodyPr wrap="square" lIns="0" tIns="0" rIns="0" bIns="0" rtlCol="0" anchor="ctr">
            <a:normAutofit/>
          </a:bodyPr>
          <a:lstStyle/>
          <a:p>
            <a:pPr marL="0" indent="0" algn="ctr">
              <a:buNone/>
            </a:pPr>
            <a:r>
              <a:rPr lang="en-US" sz="1000" b="1" dirty="0">
                <a:solidFill>
                  <a:srgbClr val="8A6400"/>
                </a:solidFill>
                <a:latin typeface="Avenir Next" pitchFamily="34" charset="0"/>
                <a:ea typeface="Avenir Next" pitchFamily="34" charset="-122"/>
                <a:cs typeface="Avenir Next" pitchFamily="34" charset="-120"/>
              </a:rPr>
              <a:t>BANDIT</a:t>
            </a:r>
            <a:endParaRPr lang="en-US" sz="1000" dirty="0"/>
          </a:p>
        </p:txBody>
      </p:sp>
      <p:sp>
        <p:nvSpPr>
          <p:cNvPr id="22" name="Text 19"/>
          <p:cNvSpPr/>
          <p:nvPr/>
        </p:nvSpPr>
        <p:spPr>
          <a:xfrm>
            <a:off x="8119872" y="3438144"/>
            <a:ext cx="1435608" cy="274320"/>
          </a:xfrm>
          <a:prstGeom prst="rect">
            <a:avLst/>
          </a:prstGeom>
          <a:noFill/>
          <a:ln/>
        </p:spPr>
        <p:txBody>
          <a:bodyPr wrap="square" lIns="0" tIns="0" rIns="0" bIns="0" rtlCol="0" anchor="ctr">
            <a:normAutofit/>
          </a:bodyPr>
          <a:lstStyle/>
          <a:p>
            <a:pPr marL="0" indent="0" algn="l">
              <a:buNone/>
            </a:pPr>
            <a:r>
              <a:rPr lang="en-US" sz="1300" b="1" dirty="0">
                <a:solidFill>
                  <a:srgbClr val="4E8A5E"/>
                </a:solidFill>
                <a:latin typeface="Avenir Next" pitchFamily="34" charset="0"/>
                <a:ea typeface="Avenir Next" pitchFamily="34" charset="-122"/>
                <a:cs typeface="Avenir Next" pitchFamily="34" charset="-120"/>
              </a:rPr>
              <a:t>best format</a:t>
            </a:r>
            <a:endParaRPr lang="en-US" sz="1300" dirty="0"/>
          </a:p>
        </p:txBody>
      </p:sp>
      <p:sp>
        <p:nvSpPr>
          <p:cNvPr id="23" name="Text 20"/>
          <p:cNvSpPr/>
          <p:nvPr/>
        </p:nvSpPr>
        <p:spPr>
          <a:xfrm>
            <a:off x="9454896" y="3419856"/>
            <a:ext cx="1764792" cy="310896"/>
          </a:xfrm>
          <a:prstGeom prst="rect">
            <a:avLst/>
          </a:prstGeom>
          <a:noFill/>
          <a:ln/>
        </p:spPr>
        <p:txBody>
          <a:bodyPr wrap="square" lIns="0" tIns="0" rIns="0" bIns="0" rtlCol="0" anchor="ctr">
            <a:normAutofit/>
          </a:bodyPr>
          <a:lstStyle/>
          <a:p>
            <a:pPr marL="0" indent="0" algn="r">
              <a:buNone/>
            </a:pPr>
            <a:r>
              <a:rPr lang="en-US" sz="1500" b="1" dirty="0">
                <a:solidFill>
                  <a:srgbClr val="E5B75A"/>
                </a:solidFill>
                <a:latin typeface="Avenir Next" pitchFamily="34" charset="0"/>
                <a:ea typeface="Avenir Next" pitchFamily="34" charset="-122"/>
                <a:cs typeface="Avenir Next" pitchFamily="34" charset="-120"/>
              </a:rPr>
              <a:t>worked example</a:t>
            </a:r>
            <a:endParaRPr lang="en-US" sz="1500" dirty="0"/>
          </a:p>
        </p:txBody>
      </p:sp>
      <p:sp>
        <p:nvSpPr>
          <p:cNvPr id="24" name="Shape 21"/>
          <p:cNvSpPr/>
          <p:nvPr/>
        </p:nvSpPr>
        <p:spPr>
          <a:xfrm>
            <a:off x="6903720" y="4169664"/>
            <a:ext cx="4590288" cy="713232"/>
          </a:xfrm>
          <a:prstGeom prst="roundRect">
            <a:avLst>
              <a:gd name="adj" fmla="val 15385"/>
            </a:avLst>
          </a:prstGeom>
          <a:solidFill>
            <a:srgbClr val="FFFDFC"/>
          </a:solidFill>
          <a:ln w="12700">
            <a:solidFill>
              <a:srgbClr val="D7CCBD"/>
            </a:solidFill>
            <a:prstDash val="solid"/>
          </a:ln>
        </p:spPr>
        <p:txBody>
          <a:bodyPr/>
          <a:lstStyle/>
          <a:p>
            <a:endParaRPr lang="en-US"/>
          </a:p>
        </p:txBody>
      </p:sp>
      <p:sp>
        <p:nvSpPr>
          <p:cNvPr id="25" name="Shape 22"/>
          <p:cNvSpPr/>
          <p:nvPr/>
        </p:nvSpPr>
        <p:spPr>
          <a:xfrm>
            <a:off x="7114032" y="4370832"/>
            <a:ext cx="822960" cy="310896"/>
          </a:xfrm>
          <a:prstGeom prst="roundRect">
            <a:avLst>
              <a:gd name="adj" fmla="val 50000"/>
            </a:avLst>
          </a:prstGeom>
          <a:solidFill>
            <a:srgbClr val="DDEBD7"/>
          </a:solidFill>
          <a:ln w="12700">
            <a:solidFill>
              <a:srgbClr val="DDEBD7"/>
            </a:solidFill>
            <a:prstDash val="solid"/>
          </a:ln>
        </p:spPr>
        <p:txBody>
          <a:bodyPr/>
          <a:lstStyle/>
          <a:p>
            <a:endParaRPr lang="en-US"/>
          </a:p>
        </p:txBody>
      </p:sp>
      <p:sp>
        <p:nvSpPr>
          <p:cNvPr id="26" name="Text 23"/>
          <p:cNvSpPr/>
          <p:nvPr/>
        </p:nvSpPr>
        <p:spPr>
          <a:xfrm>
            <a:off x="7178040" y="4389120"/>
            <a:ext cx="694944" cy="256032"/>
          </a:xfrm>
          <a:prstGeom prst="rect">
            <a:avLst/>
          </a:prstGeom>
          <a:noFill/>
          <a:ln/>
        </p:spPr>
        <p:txBody>
          <a:bodyPr wrap="square" lIns="0" tIns="0" rIns="0" bIns="0" rtlCol="0" anchor="ctr">
            <a:normAutofit/>
          </a:bodyPr>
          <a:lstStyle/>
          <a:p>
            <a:pPr marL="0" indent="0" algn="ctr">
              <a:buNone/>
            </a:pPr>
            <a:r>
              <a:rPr lang="en-US" sz="1000" b="1" dirty="0">
                <a:solidFill>
                  <a:srgbClr val="083E17"/>
                </a:solidFill>
                <a:latin typeface="Avenir Next" pitchFamily="34" charset="0"/>
                <a:ea typeface="Avenir Next" pitchFamily="34" charset="-122"/>
                <a:cs typeface="Avenir Next" pitchFamily="34" charset="-120"/>
              </a:rPr>
              <a:t>ATTEMPT</a:t>
            </a:r>
            <a:endParaRPr lang="en-US" sz="1000" dirty="0"/>
          </a:p>
        </p:txBody>
      </p:sp>
      <p:sp>
        <p:nvSpPr>
          <p:cNvPr id="27" name="Text 24"/>
          <p:cNvSpPr/>
          <p:nvPr/>
        </p:nvSpPr>
        <p:spPr>
          <a:xfrm>
            <a:off x="8119872" y="4352544"/>
            <a:ext cx="1435608" cy="274320"/>
          </a:xfrm>
          <a:prstGeom prst="rect">
            <a:avLst/>
          </a:prstGeom>
          <a:noFill/>
          <a:ln/>
        </p:spPr>
        <p:txBody>
          <a:bodyPr wrap="square" lIns="0" tIns="0" rIns="0" bIns="0" rtlCol="0" anchor="ctr">
            <a:normAutofit/>
          </a:bodyPr>
          <a:lstStyle/>
          <a:p>
            <a:pPr marL="0" indent="0" algn="l">
              <a:buNone/>
            </a:pPr>
            <a:r>
              <a:rPr lang="en-US" sz="1300" b="1" dirty="0">
                <a:solidFill>
                  <a:srgbClr val="4E8A5E"/>
                </a:solidFill>
                <a:latin typeface="Avenir Next" pitchFamily="34" charset="0"/>
                <a:ea typeface="Avenir Next" pitchFamily="34" charset="-122"/>
                <a:cs typeface="Avenir Next" pitchFamily="34" charset="-120"/>
              </a:rPr>
              <a:t>evidence log</a:t>
            </a:r>
            <a:endParaRPr lang="en-US" sz="1300" dirty="0"/>
          </a:p>
        </p:txBody>
      </p:sp>
      <p:sp>
        <p:nvSpPr>
          <p:cNvPr id="28" name="Text 25"/>
          <p:cNvSpPr/>
          <p:nvPr/>
        </p:nvSpPr>
        <p:spPr>
          <a:xfrm>
            <a:off x="9454896" y="4334256"/>
            <a:ext cx="1764792" cy="310896"/>
          </a:xfrm>
          <a:prstGeom prst="rect">
            <a:avLst/>
          </a:prstGeom>
          <a:noFill/>
          <a:ln/>
        </p:spPr>
        <p:txBody>
          <a:bodyPr wrap="square" lIns="0" tIns="0" rIns="0" bIns="0" rtlCol="0" anchor="ctr">
            <a:normAutofit/>
          </a:bodyPr>
          <a:lstStyle/>
          <a:p>
            <a:pPr marL="0" indent="0" algn="r">
              <a:buNone/>
            </a:pPr>
            <a:r>
              <a:rPr lang="en-US" sz="1500" b="1" dirty="0">
                <a:solidFill>
                  <a:srgbClr val="4E8A5E"/>
                </a:solidFill>
                <a:latin typeface="Avenir Next" pitchFamily="34" charset="0"/>
                <a:ea typeface="Avenir Next" pitchFamily="34" charset="-122"/>
                <a:cs typeface="Avenir Next" pitchFamily="34" charset="-120"/>
              </a:rPr>
              <a:t>saved</a:t>
            </a:r>
            <a:endParaRPr lang="en-US" sz="1500" dirty="0"/>
          </a:p>
        </p:txBody>
      </p:sp>
      <p:sp>
        <p:nvSpPr>
          <p:cNvPr id="29" name="Shape 26"/>
          <p:cNvSpPr/>
          <p:nvPr/>
        </p:nvSpPr>
        <p:spPr>
          <a:xfrm>
            <a:off x="9189720" y="5138928"/>
            <a:ext cx="0" cy="0"/>
          </a:xfrm>
          <a:prstGeom prst="line">
            <a:avLst/>
          </a:prstGeom>
          <a:noFill/>
          <a:ln w="31750">
            <a:solidFill>
              <a:srgbClr val="4E8A5E"/>
            </a:solidFill>
            <a:prstDash val="solid"/>
            <a:headEnd type="none"/>
            <a:tailEnd type="triangle"/>
          </a:ln>
        </p:spPr>
        <p:txBody>
          <a:bodyPr/>
          <a:lstStyle/>
          <a:p>
            <a:endParaRPr lang="en-US"/>
          </a:p>
        </p:txBody>
      </p:sp>
      <p:sp>
        <p:nvSpPr>
          <p:cNvPr id="30" name="Shape 27"/>
          <p:cNvSpPr/>
          <p:nvPr/>
        </p:nvSpPr>
        <p:spPr>
          <a:xfrm>
            <a:off x="749808" y="4873752"/>
            <a:ext cx="2578608" cy="786384"/>
          </a:xfrm>
          <a:prstGeom prst="roundRect">
            <a:avLst>
              <a:gd name="adj" fmla="val 13953"/>
            </a:avLst>
          </a:prstGeom>
          <a:solidFill>
            <a:srgbClr val="F0F6ED"/>
          </a:solidFill>
          <a:ln w="12700">
            <a:solidFill>
              <a:srgbClr val="4E8A5E"/>
            </a:solidFill>
            <a:prstDash val="solid"/>
          </a:ln>
        </p:spPr>
        <p:txBody>
          <a:bodyPr/>
          <a:lstStyle/>
          <a:p>
            <a:endParaRPr lang="en-US"/>
          </a:p>
        </p:txBody>
      </p:sp>
      <p:sp>
        <p:nvSpPr>
          <p:cNvPr id="31" name="Text 28"/>
          <p:cNvSpPr/>
          <p:nvPr/>
        </p:nvSpPr>
        <p:spPr>
          <a:xfrm>
            <a:off x="841248" y="4965192"/>
            <a:ext cx="2395728" cy="246888"/>
          </a:xfrm>
          <a:prstGeom prst="rect">
            <a:avLst/>
          </a:prstGeom>
          <a:noFill/>
          <a:ln/>
        </p:spPr>
        <p:txBody>
          <a:bodyPr wrap="square" lIns="0" tIns="0" rIns="0" bIns="0" rtlCol="0" anchor="ctr">
            <a:normAutofit/>
          </a:bodyPr>
          <a:lstStyle/>
          <a:p>
            <a:pPr marL="0" indent="0" algn="ctr">
              <a:buNone/>
            </a:pPr>
            <a:r>
              <a:rPr lang="en-US" sz="1800" dirty="0">
                <a:solidFill>
                  <a:srgbClr val="083E17"/>
                </a:solidFill>
                <a:latin typeface="Instrument Serif" pitchFamily="34" charset="0"/>
                <a:ea typeface="Instrument Serif" pitchFamily="34" charset="-122"/>
                <a:cs typeface="Instrument Serif" pitchFamily="34" charset="-120"/>
              </a:rPr>
              <a:t>LEARN</a:t>
            </a:r>
            <a:endParaRPr lang="en-US" sz="1800" dirty="0"/>
          </a:p>
        </p:txBody>
      </p:sp>
      <p:sp>
        <p:nvSpPr>
          <p:cNvPr id="32" name="Text 29"/>
          <p:cNvSpPr/>
          <p:nvPr/>
        </p:nvSpPr>
        <p:spPr>
          <a:xfrm>
            <a:off x="841248" y="5257800"/>
            <a:ext cx="2395728" cy="192024"/>
          </a:xfrm>
          <a:prstGeom prst="rect">
            <a:avLst/>
          </a:prstGeom>
          <a:noFill/>
          <a:ln/>
        </p:spPr>
        <p:txBody>
          <a:bodyPr wrap="square" lIns="0" tIns="0" rIns="0" bIns="0" rtlCol="0" anchor="ctr">
            <a:normAutofit/>
          </a:bodyPr>
          <a:lstStyle/>
          <a:p>
            <a:pPr marL="0" indent="0" algn="ctr">
              <a:buNone/>
            </a:pPr>
            <a:r>
              <a:rPr lang="en-US" sz="900" dirty="0">
                <a:solidFill>
                  <a:srgbClr val="4E8A5E"/>
                </a:solidFill>
                <a:latin typeface="Avenir Next" pitchFamily="34" charset="0"/>
                <a:ea typeface="Avenir Next" pitchFamily="34" charset="-122"/>
                <a:cs typeface="Avenir Next" pitchFamily="34" charset="-120"/>
              </a:rPr>
              <a:t>chooses the next action</a:t>
            </a:r>
            <a:endParaRPr lang="en-US" sz="900" dirty="0"/>
          </a:p>
        </p:txBody>
      </p:sp>
      <p:sp>
        <p:nvSpPr>
          <p:cNvPr id="33" name="Shape 30"/>
          <p:cNvSpPr/>
          <p:nvPr/>
        </p:nvSpPr>
        <p:spPr>
          <a:xfrm>
            <a:off x="4041648" y="4873752"/>
            <a:ext cx="2578608" cy="786384"/>
          </a:xfrm>
          <a:prstGeom prst="roundRect">
            <a:avLst>
              <a:gd name="adj" fmla="val 13953"/>
            </a:avLst>
          </a:prstGeom>
          <a:solidFill>
            <a:srgbClr val="F0F6ED"/>
          </a:solidFill>
          <a:ln w="12700">
            <a:solidFill>
              <a:srgbClr val="4E8A5E"/>
            </a:solidFill>
            <a:prstDash val="solid"/>
          </a:ln>
        </p:spPr>
        <p:txBody>
          <a:bodyPr/>
          <a:lstStyle/>
          <a:p>
            <a:endParaRPr lang="en-US"/>
          </a:p>
        </p:txBody>
      </p:sp>
      <p:sp>
        <p:nvSpPr>
          <p:cNvPr id="34" name="Text 31"/>
          <p:cNvSpPr/>
          <p:nvPr/>
        </p:nvSpPr>
        <p:spPr>
          <a:xfrm>
            <a:off x="4133088" y="4965192"/>
            <a:ext cx="2395728" cy="246888"/>
          </a:xfrm>
          <a:prstGeom prst="rect">
            <a:avLst/>
          </a:prstGeom>
          <a:noFill/>
          <a:ln/>
        </p:spPr>
        <p:txBody>
          <a:bodyPr wrap="square" lIns="0" tIns="0" rIns="0" bIns="0" rtlCol="0" anchor="ctr">
            <a:normAutofit/>
          </a:bodyPr>
          <a:lstStyle/>
          <a:p>
            <a:pPr marL="0" indent="0" algn="ctr">
              <a:buNone/>
            </a:pPr>
            <a:r>
              <a:rPr lang="en-US" sz="1800" dirty="0">
                <a:solidFill>
                  <a:srgbClr val="083E17"/>
                </a:solidFill>
                <a:latin typeface="Instrument Serif" pitchFamily="34" charset="0"/>
                <a:ea typeface="Instrument Serif" pitchFamily="34" charset="-122"/>
                <a:cs typeface="Instrument Serif" pitchFamily="34" charset="-120"/>
              </a:rPr>
              <a:t>GARDEN</a:t>
            </a:r>
            <a:endParaRPr lang="en-US" sz="1800" dirty="0"/>
          </a:p>
        </p:txBody>
      </p:sp>
      <p:sp>
        <p:nvSpPr>
          <p:cNvPr id="35" name="Text 32"/>
          <p:cNvSpPr/>
          <p:nvPr/>
        </p:nvSpPr>
        <p:spPr>
          <a:xfrm>
            <a:off x="4133088" y="5257800"/>
            <a:ext cx="2395728" cy="192024"/>
          </a:xfrm>
          <a:prstGeom prst="rect">
            <a:avLst/>
          </a:prstGeom>
          <a:noFill/>
          <a:ln/>
        </p:spPr>
        <p:txBody>
          <a:bodyPr wrap="square" lIns="0" tIns="0" rIns="0" bIns="0" rtlCol="0" anchor="ctr">
            <a:normAutofit/>
          </a:bodyPr>
          <a:lstStyle/>
          <a:p>
            <a:pPr marL="0" indent="0" algn="ctr">
              <a:buNone/>
            </a:pPr>
            <a:r>
              <a:rPr lang="en-US" sz="900" dirty="0">
                <a:solidFill>
                  <a:srgbClr val="4E8A5E"/>
                </a:solidFill>
                <a:latin typeface="Avenir Next" pitchFamily="34" charset="0"/>
                <a:ea typeface="Avenir Next" pitchFamily="34" charset="-122"/>
                <a:cs typeface="Avenir Next" pitchFamily="34" charset="-120"/>
              </a:rPr>
              <a:t>renders the new state</a:t>
            </a:r>
            <a:endParaRPr lang="en-US" sz="900" dirty="0"/>
          </a:p>
        </p:txBody>
      </p:sp>
      <p:sp>
        <p:nvSpPr>
          <p:cNvPr id="36" name="Shape 33"/>
          <p:cNvSpPr/>
          <p:nvPr/>
        </p:nvSpPr>
        <p:spPr>
          <a:xfrm>
            <a:off x="7333488" y="4873752"/>
            <a:ext cx="2578608" cy="786384"/>
          </a:xfrm>
          <a:prstGeom prst="roundRect">
            <a:avLst>
              <a:gd name="adj" fmla="val 13953"/>
            </a:avLst>
          </a:prstGeom>
          <a:solidFill>
            <a:srgbClr val="F0F6ED"/>
          </a:solidFill>
          <a:ln w="12700">
            <a:solidFill>
              <a:srgbClr val="4E8A5E"/>
            </a:solidFill>
            <a:prstDash val="solid"/>
          </a:ln>
        </p:spPr>
        <p:txBody>
          <a:bodyPr/>
          <a:lstStyle/>
          <a:p>
            <a:endParaRPr lang="en-US"/>
          </a:p>
        </p:txBody>
      </p:sp>
      <p:sp>
        <p:nvSpPr>
          <p:cNvPr id="37" name="Text 34"/>
          <p:cNvSpPr/>
          <p:nvPr/>
        </p:nvSpPr>
        <p:spPr>
          <a:xfrm>
            <a:off x="7424928" y="4965192"/>
            <a:ext cx="2395728" cy="246888"/>
          </a:xfrm>
          <a:prstGeom prst="rect">
            <a:avLst/>
          </a:prstGeom>
          <a:noFill/>
          <a:ln/>
        </p:spPr>
        <p:txBody>
          <a:bodyPr wrap="square" lIns="0" tIns="0" rIns="0" bIns="0" rtlCol="0" anchor="ctr">
            <a:normAutofit/>
          </a:bodyPr>
          <a:lstStyle/>
          <a:p>
            <a:pPr marL="0" indent="0" algn="ctr">
              <a:buNone/>
            </a:pPr>
            <a:r>
              <a:rPr lang="en-US" sz="1800" dirty="0">
                <a:solidFill>
                  <a:srgbClr val="083E17"/>
                </a:solidFill>
                <a:latin typeface="Instrument Serif" pitchFamily="34" charset="0"/>
                <a:ea typeface="Instrument Serif" pitchFamily="34" charset="-122"/>
                <a:cs typeface="Instrument Serif" pitchFamily="34" charset="-120"/>
              </a:rPr>
              <a:t>TUTOR</a:t>
            </a:r>
            <a:endParaRPr lang="en-US" sz="1800" dirty="0"/>
          </a:p>
        </p:txBody>
      </p:sp>
      <p:sp>
        <p:nvSpPr>
          <p:cNvPr id="38" name="Text 35"/>
          <p:cNvSpPr/>
          <p:nvPr/>
        </p:nvSpPr>
        <p:spPr>
          <a:xfrm>
            <a:off x="7424928" y="5257800"/>
            <a:ext cx="2395728" cy="192024"/>
          </a:xfrm>
          <a:prstGeom prst="rect">
            <a:avLst/>
          </a:prstGeom>
          <a:noFill/>
          <a:ln/>
        </p:spPr>
        <p:txBody>
          <a:bodyPr wrap="square" lIns="0" tIns="0" rIns="0" bIns="0" rtlCol="0" anchor="ctr">
            <a:normAutofit/>
          </a:bodyPr>
          <a:lstStyle/>
          <a:p>
            <a:pPr marL="0" indent="0" algn="ctr">
              <a:buNone/>
            </a:pPr>
            <a:r>
              <a:rPr lang="en-US" sz="900" dirty="0">
                <a:solidFill>
                  <a:srgbClr val="4E8A5E"/>
                </a:solidFill>
                <a:latin typeface="Avenir Next" pitchFamily="34" charset="0"/>
                <a:ea typeface="Avenir Next" pitchFamily="34" charset="-122"/>
                <a:cs typeface="Avenir Next" pitchFamily="34" charset="-120"/>
              </a:rPr>
              <a:t>changes the next lesson</a:t>
            </a:r>
            <a:endParaRPr lang="en-US" sz="900" dirty="0"/>
          </a:p>
        </p:txBody>
      </p:sp>
      <p:sp>
        <p:nvSpPr>
          <p:cNvPr id="39" name="Text 36"/>
          <p:cNvSpPr/>
          <p:nvPr/>
        </p:nvSpPr>
        <p:spPr>
          <a:xfrm>
            <a:off x="3273552" y="5980176"/>
            <a:ext cx="5623560" cy="310896"/>
          </a:xfrm>
          <a:prstGeom prst="rect">
            <a:avLst/>
          </a:prstGeom>
          <a:noFill/>
          <a:ln/>
        </p:spPr>
        <p:txBody>
          <a:bodyPr wrap="square" lIns="0" tIns="0" rIns="0" bIns="0" rtlCol="0" anchor="ctr">
            <a:normAutofit/>
          </a:bodyPr>
          <a:lstStyle/>
          <a:p>
            <a:pPr marL="0" indent="0" algn="ctr">
              <a:buNone/>
            </a:pPr>
            <a:r>
              <a:rPr lang="en-US" sz="1900" i="1" dirty="0">
                <a:solidFill>
                  <a:srgbClr val="083E17"/>
                </a:solidFill>
                <a:latin typeface="Instrument Serif" pitchFamily="34" charset="0"/>
                <a:ea typeface="Instrument Serif" pitchFamily="34" charset="-122"/>
                <a:cs typeface="Instrument Serif" pitchFamily="34" charset="-120"/>
              </a:rPr>
              <a:t>This closed loop is the product.</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EFE3"/>
        </a:solidFill>
        <a:effectLst/>
      </p:bgPr>
    </p:bg>
    <p:spTree>
      <p:nvGrpSpPr>
        <p:cNvPr id="1" name=""/>
        <p:cNvGrpSpPr/>
        <p:nvPr/>
      </p:nvGrpSpPr>
      <p:grpSpPr>
        <a:xfrm>
          <a:off x="0" y="0"/>
          <a:ext cx="0" cy="0"/>
          <a:chOff x="0" y="0"/>
          <a:chExt cx="0" cy="0"/>
        </a:xfrm>
      </p:grpSpPr>
      <p:sp>
        <p:nvSpPr>
          <p:cNvPr id="2" name="Shape 0"/>
          <p:cNvSpPr/>
          <p:nvPr/>
        </p:nvSpPr>
        <p:spPr>
          <a:xfrm>
            <a:off x="548640" y="6510528"/>
            <a:ext cx="11091672" cy="0"/>
          </a:xfrm>
          <a:prstGeom prst="line">
            <a:avLst/>
          </a:prstGeom>
          <a:noFill/>
          <a:ln w="12700">
            <a:solidFill>
              <a:srgbClr val="D8CDBE"/>
            </a:solidFill>
            <a:prstDash val="solid"/>
          </a:ln>
        </p:spPr>
        <p:txBody>
          <a:bodyPr/>
          <a:lstStyle/>
          <a:p>
            <a:endParaRPr lang="en-US"/>
          </a:p>
        </p:txBody>
      </p:sp>
      <p:sp>
        <p:nvSpPr>
          <p:cNvPr id="3" name="Text 1"/>
          <p:cNvSpPr/>
          <p:nvPr/>
        </p:nvSpPr>
        <p:spPr>
          <a:xfrm>
            <a:off x="585216" y="6547104"/>
            <a:ext cx="2834640" cy="182880"/>
          </a:xfrm>
          <a:prstGeom prst="rect">
            <a:avLst/>
          </a:prstGeom>
          <a:noFill/>
          <a:ln/>
        </p:spPr>
        <p:txBody>
          <a:bodyPr wrap="square" lIns="0" tIns="0" rIns="0" bIns="0" rtlCol="0" anchor="ctr">
            <a:normAutofit/>
          </a:bodyPr>
          <a:lstStyle/>
          <a:p>
            <a:pPr marL="0" indent="0" algn="l">
              <a:buNone/>
            </a:pPr>
            <a:r>
              <a:rPr lang="en-US" sz="800" dirty="0">
                <a:solidFill>
                  <a:srgbClr val="64806B"/>
                </a:solidFill>
                <a:latin typeface="Avenir Next" pitchFamily="34" charset="0"/>
                <a:ea typeface="Avenir Next" pitchFamily="34" charset="-122"/>
                <a:cs typeface="Avenir Next" pitchFamily="34" charset="-120"/>
              </a:rPr>
              <a:t>SPROUT · MHACKS 2026</a:t>
            </a:r>
            <a:endParaRPr lang="en-US" sz="800" dirty="0"/>
          </a:p>
        </p:txBody>
      </p:sp>
      <p:sp>
        <p:nvSpPr>
          <p:cNvPr id="4" name="Text 2"/>
          <p:cNvSpPr/>
          <p:nvPr/>
        </p:nvSpPr>
        <p:spPr>
          <a:xfrm>
            <a:off x="11201400" y="6519672"/>
            <a:ext cx="365760" cy="182880"/>
          </a:xfrm>
          <a:prstGeom prst="rect">
            <a:avLst/>
          </a:prstGeom>
          <a:noFill/>
          <a:ln/>
        </p:spPr>
        <p:txBody>
          <a:bodyPr wrap="square" lIns="0" tIns="0" rIns="0" bIns="0" rtlCol="0" anchor="ctr">
            <a:normAutofit/>
          </a:bodyPr>
          <a:lstStyle/>
          <a:p>
            <a:pPr marL="0" indent="0" algn="r">
              <a:buNone/>
            </a:pPr>
            <a:r>
              <a:rPr lang="en-US" sz="800" dirty="0">
                <a:solidFill>
                  <a:srgbClr val="64806B"/>
                </a:solidFill>
                <a:latin typeface="Avenir Next" pitchFamily="34" charset="0"/>
                <a:ea typeface="Avenir Next" pitchFamily="34" charset="-122"/>
                <a:cs typeface="Avenir Next" pitchFamily="34" charset="-120"/>
              </a:rPr>
              <a:t>6</a:t>
            </a:r>
            <a:endParaRPr lang="en-US" sz="800" dirty="0"/>
          </a:p>
        </p:txBody>
      </p:sp>
      <p:sp>
        <p:nvSpPr>
          <p:cNvPr id="5" name="Text 3"/>
          <p:cNvSpPr/>
          <p:nvPr/>
        </p:nvSpPr>
        <p:spPr>
          <a:xfrm>
            <a:off x="658368" y="384048"/>
            <a:ext cx="10789920" cy="585216"/>
          </a:xfrm>
          <a:prstGeom prst="rect">
            <a:avLst/>
          </a:prstGeom>
          <a:noFill/>
          <a:ln/>
        </p:spPr>
        <p:txBody>
          <a:bodyPr wrap="square" lIns="0" tIns="0" rIns="0" bIns="0" rtlCol="0" anchor="ctr">
            <a:normAutofit/>
          </a:bodyPr>
          <a:lstStyle/>
          <a:p>
            <a:pPr marL="0" indent="0" algn="l">
              <a:buNone/>
            </a:pPr>
            <a:r>
              <a:rPr lang="en-US" sz="3100" dirty="0">
                <a:solidFill>
                  <a:srgbClr val="083E17"/>
                </a:solidFill>
                <a:latin typeface="Instrument Serif" pitchFamily="34" charset="0"/>
                <a:ea typeface="Instrument Serif" pitchFamily="34" charset="-122"/>
                <a:cs typeface="Instrument Serif" pitchFamily="34" charset="-120"/>
              </a:rPr>
              <a:t>Garden shows the state. Arcade makes it social.</a:t>
            </a:r>
            <a:endParaRPr lang="en-US" sz="3100" dirty="0"/>
          </a:p>
        </p:txBody>
      </p:sp>
      <p:sp>
        <p:nvSpPr>
          <p:cNvPr id="6" name="Text 4"/>
          <p:cNvSpPr/>
          <p:nvPr/>
        </p:nvSpPr>
        <p:spPr>
          <a:xfrm>
            <a:off x="685800" y="969264"/>
            <a:ext cx="10515600" cy="292608"/>
          </a:xfrm>
          <a:prstGeom prst="rect">
            <a:avLst/>
          </a:prstGeom>
          <a:noFill/>
          <a:ln/>
        </p:spPr>
        <p:txBody>
          <a:bodyPr wrap="square" lIns="0" tIns="0" rIns="0" bIns="0" rtlCol="0" anchor="ctr">
            <a:normAutofit/>
          </a:bodyPr>
          <a:lstStyle/>
          <a:p>
            <a:pPr marL="0" indent="0" algn="l">
              <a:buNone/>
            </a:pPr>
            <a:r>
              <a:rPr lang="en-US" sz="1300" dirty="0">
                <a:solidFill>
                  <a:srgbClr val="4E8A5E"/>
                </a:solidFill>
                <a:latin typeface="Avenir Next" pitchFamily="34" charset="0"/>
                <a:ea typeface="Avenir Next" pitchFamily="34" charset="-122"/>
                <a:cs typeface="Avenir Next" pitchFamily="34" charset="-120"/>
              </a:rPr>
              <a:t>Two different experiences; the same mastery graph underneath.</a:t>
            </a:r>
            <a:endParaRPr lang="en-US" sz="1300" dirty="0"/>
          </a:p>
        </p:txBody>
      </p:sp>
      <p:sp>
        <p:nvSpPr>
          <p:cNvPr id="7" name="Shape 5"/>
          <p:cNvSpPr/>
          <p:nvPr/>
        </p:nvSpPr>
        <p:spPr>
          <a:xfrm>
            <a:off x="621792" y="1325880"/>
            <a:ext cx="5504688" cy="3127248"/>
          </a:xfrm>
          <a:prstGeom prst="roundRect">
            <a:avLst>
              <a:gd name="adj" fmla="val 3509"/>
            </a:avLst>
          </a:prstGeom>
          <a:solidFill>
            <a:srgbClr val="FFFDFC"/>
          </a:solidFill>
          <a:ln w="12700">
            <a:solidFill>
              <a:srgbClr val="CBBEA9"/>
            </a:solidFill>
            <a:prstDash val="solid"/>
          </a:ln>
        </p:spPr>
        <p:txBody>
          <a:bodyPr/>
          <a:lstStyle/>
          <a:p>
            <a:endParaRPr lang="en-US"/>
          </a:p>
        </p:txBody>
      </p:sp>
      <p:pic>
        <p:nvPicPr>
          <p:cNvPr id="8" name="Image 0" descr="/Users/ashmith/sprout/web/public/showcase/unlock.jpg"/>
          <p:cNvPicPr>
            <a:picLocks noChangeAspect="1"/>
          </p:cNvPicPr>
          <p:nvPr/>
        </p:nvPicPr>
        <p:blipFill>
          <a:blip r:embed="rId3"/>
          <a:stretch>
            <a:fillRect/>
          </a:stretch>
        </p:blipFill>
        <p:spPr>
          <a:xfrm>
            <a:off x="658368" y="1362456"/>
            <a:ext cx="5431536" cy="3054096"/>
          </a:xfrm>
          <a:prstGeom prst="rect">
            <a:avLst/>
          </a:prstGeom>
        </p:spPr>
      </p:pic>
      <p:sp>
        <p:nvSpPr>
          <p:cNvPr id="9" name="Shape 6"/>
          <p:cNvSpPr/>
          <p:nvPr/>
        </p:nvSpPr>
        <p:spPr>
          <a:xfrm>
            <a:off x="6345936" y="1325880"/>
            <a:ext cx="5212080" cy="3127248"/>
          </a:xfrm>
          <a:prstGeom prst="roundRect">
            <a:avLst>
              <a:gd name="adj" fmla="val 3509"/>
            </a:avLst>
          </a:prstGeom>
          <a:solidFill>
            <a:srgbClr val="FFFDFC"/>
          </a:solidFill>
          <a:ln w="12700">
            <a:solidFill>
              <a:srgbClr val="CBBEA9"/>
            </a:solidFill>
            <a:prstDash val="solid"/>
          </a:ln>
        </p:spPr>
        <p:txBody>
          <a:bodyPr/>
          <a:lstStyle/>
          <a:p>
            <a:endParaRPr lang="en-US"/>
          </a:p>
        </p:txBody>
      </p:sp>
      <p:pic>
        <p:nvPicPr>
          <p:cNvPr id="10" name="Image 1" descr="/Users/ashmith/sprout/web/public/showcase/games.jpg"/>
          <p:cNvPicPr>
            <a:picLocks noChangeAspect="1"/>
          </p:cNvPicPr>
          <p:nvPr/>
        </p:nvPicPr>
        <p:blipFill>
          <a:blip r:embed="rId4"/>
          <a:stretch>
            <a:fillRect/>
          </a:stretch>
        </p:blipFill>
        <p:spPr>
          <a:xfrm>
            <a:off x="6382512" y="1362456"/>
            <a:ext cx="5138928" cy="3054096"/>
          </a:xfrm>
          <a:prstGeom prst="rect">
            <a:avLst/>
          </a:prstGeom>
        </p:spPr>
      </p:pic>
      <p:sp>
        <p:nvSpPr>
          <p:cNvPr id="11" name="Shape 7"/>
          <p:cNvSpPr/>
          <p:nvPr/>
        </p:nvSpPr>
        <p:spPr>
          <a:xfrm>
            <a:off x="841248" y="4681728"/>
            <a:ext cx="969264" cy="310896"/>
          </a:xfrm>
          <a:prstGeom prst="roundRect">
            <a:avLst>
              <a:gd name="adj" fmla="val 50000"/>
            </a:avLst>
          </a:prstGeom>
          <a:solidFill>
            <a:srgbClr val="DDEBD7"/>
          </a:solidFill>
          <a:ln w="12700">
            <a:solidFill>
              <a:srgbClr val="DDEBD7"/>
            </a:solidFill>
            <a:prstDash val="solid"/>
          </a:ln>
        </p:spPr>
        <p:txBody>
          <a:bodyPr/>
          <a:lstStyle/>
          <a:p>
            <a:endParaRPr lang="en-US"/>
          </a:p>
        </p:txBody>
      </p:sp>
      <p:sp>
        <p:nvSpPr>
          <p:cNvPr id="12" name="Text 8"/>
          <p:cNvSpPr/>
          <p:nvPr/>
        </p:nvSpPr>
        <p:spPr>
          <a:xfrm>
            <a:off x="905256" y="4700016"/>
            <a:ext cx="841248" cy="256032"/>
          </a:xfrm>
          <a:prstGeom prst="rect">
            <a:avLst/>
          </a:prstGeom>
          <a:noFill/>
          <a:ln/>
        </p:spPr>
        <p:txBody>
          <a:bodyPr wrap="square" lIns="0" tIns="0" rIns="0" bIns="0" rtlCol="0" anchor="ctr">
            <a:normAutofit/>
          </a:bodyPr>
          <a:lstStyle/>
          <a:p>
            <a:pPr marL="0" indent="0" algn="ctr">
              <a:buNone/>
            </a:pPr>
            <a:r>
              <a:rPr lang="en-US" sz="1000" b="1" dirty="0">
                <a:solidFill>
                  <a:srgbClr val="083E17"/>
                </a:solidFill>
                <a:latin typeface="Avenir Next" pitchFamily="34" charset="0"/>
                <a:ea typeface="Avenir Next" pitchFamily="34" charset="-122"/>
                <a:cs typeface="Avenir Next" pitchFamily="34" charset="-120"/>
              </a:rPr>
              <a:t>GARDEN</a:t>
            </a:r>
            <a:endParaRPr lang="en-US" sz="1000" dirty="0"/>
          </a:p>
        </p:txBody>
      </p:sp>
      <p:sp>
        <p:nvSpPr>
          <p:cNvPr id="13" name="Text 9"/>
          <p:cNvSpPr/>
          <p:nvPr/>
        </p:nvSpPr>
        <p:spPr>
          <a:xfrm>
            <a:off x="1965960" y="4645152"/>
            <a:ext cx="3977640" cy="384048"/>
          </a:xfrm>
          <a:prstGeom prst="rect">
            <a:avLst/>
          </a:prstGeom>
          <a:noFill/>
          <a:ln/>
        </p:spPr>
        <p:txBody>
          <a:bodyPr wrap="square" lIns="0" tIns="0" rIns="0" bIns="0" rtlCol="0" anchor="ctr">
            <a:normAutofit/>
          </a:bodyPr>
          <a:lstStyle/>
          <a:p>
            <a:pPr marL="0" indent="0" algn="l">
              <a:buNone/>
            </a:pPr>
            <a:r>
              <a:rPr lang="en-US" sz="1300" dirty="0">
                <a:solidFill>
                  <a:srgbClr val="20241F"/>
                </a:solidFill>
                <a:latin typeface="Avenir Next" pitchFamily="34" charset="0"/>
                <a:ea typeface="Avenir Next" pitchFamily="34" charset="-122"/>
                <a:cs typeface="Avenir Next" pitchFamily="34" charset="-120"/>
              </a:rPr>
              <a:t>Prerequisites unlock only when every dependency reaches the threshold.</a:t>
            </a:r>
            <a:endParaRPr lang="en-US" sz="1300" dirty="0"/>
          </a:p>
        </p:txBody>
      </p:sp>
      <p:sp>
        <p:nvSpPr>
          <p:cNvPr id="14" name="Shape 10"/>
          <p:cNvSpPr/>
          <p:nvPr/>
        </p:nvSpPr>
        <p:spPr>
          <a:xfrm>
            <a:off x="6583680" y="4681728"/>
            <a:ext cx="969264" cy="310896"/>
          </a:xfrm>
          <a:prstGeom prst="roundRect">
            <a:avLst>
              <a:gd name="adj" fmla="val 50000"/>
            </a:avLst>
          </a:prstGeom>
          <a:solidFill>
            <a:srgbClr val="FFF2D5"/>
          </a:solidFill>
          <a:ln w="12700">
            <a:solidFill>
              <a:srgbClr val="FFF2D5"/>
            </a:solidFill>
            <a:prstDash val="solid"/>
          </a:ln>
        </p:spPr>
        <p:txBody>
          <a:bodyPr/>
          <a:lstStyle/>
          <a:p>
            <a:endParaRPr lang="en-US"/>
          </a:p>
        </p:txBody>
      </p:sp>
      <p:sp>
        <p:nvSpPr>
          <p:cNvPr id="15" name="Text 11"/>
          <p:cNvSpPr/>
          <p:nvPr/>
        </p:nvSpPr>
        <p:spPr>
          <a:xfrm>
            <a:off x="6647688" y="4700016"/>
            <a:ext cx="841248" cy="256032"/>
          </a:xfrm>
          <a:prstGeom prst="rect">
            <a:avLst/>
          </a:prstGeom>
          <a:noFill/>
          <a:ln/>
        </p:spPr>
        <p:txBody>
          <a:bodyPr wrap="square" lIns="0" tIns="0" rIns="0" bIns="0" rtlCol="0" anchor="ctr">
            <a:normAutofit/>
          </a:bodyPr>
          <a:lstStyle/>
          <a:p>
            <a:pPr marL="0" indent="0" algn="ctr">
              <a:buNone/>
            </a:pPr>
            <a:r>
              <a:rPr lang="en-US" sz="1000" b="1" dirty="0">
                <a:solidFill>
                  <a:srgbClr val="8A6400"/>
                </a:solidFill>
                <a:latin typeface="Avenir Next" pitchFamily="34" charset="0"/>
                <a:ea typeface="Avenir Next" pitchFamily="34" charset="-122"/>
                <a:cs typeface="Avenir Next" pitchFamily="34" charset="-120"/>
              </a:rPr>
              <a:t>ARCADE</a:t>
            </a:r>
            <a:endParaRPr lang="en-US" sz="1000" dirty="0"/>
          </a:p>
        </p:txBody>
      </p:sp>
      <p:sp>
        <p:nvSpPr>
          <p:cNvPr id="16" name="Text 12"/>
          <p:cNvSpPr/>
          <p:nvPr/>
        </p:nvSpPr>
        <p:spPr>
          <a:xfrm>
            <a:off x="7708392" y="4645152"/>
            <a:ext cx="3611880" cy="384048"/>
          </a:xfrm>
          <a:prstGeom prst="rect">
            <a:avLst/>
          </a:prstGeom>
          <a:noFill/>
          <a:ln/>
        </p:spPr>
        <p:txBody>
          <a:bodyPr wrap="square" lIns="0" tIns="0" rIns="0" bIns="0" rtlCol="0" anchor="ctr">
            <a:normAutofit/>
          </a:bodyPr>
          <a:lstStyle/>
          <a:p>
            <a:pPr marL="0" indent="0" algn="l">
              <a:buNone/>
            </a:pPr>
            <a:r>
              <a:rPr lang="en-US" sz="1300" dirty="0">
                <a:solidFill>
                  <a:srgbClr val="20241F"/>
                </a:solidFill>
                <a:latin typeface="Avenir Next" pitchFamily="34" charset="0"/>
                <a:ea typeface="Avenir Next" pitchFamily="34" charset="-122"/>
                <a:cs typeface="Avenir Next" pitchFamily="34" charset="-120"/>
              </a:rPr>
              <a:t>Rooms, timers, answers, scores, and standings synchronize live.</a:t>
            </a:r>
            <a:endParaRPr lang="en-US" sz="1300" dirty="0"/>
          </a:p>
        </p:txBody>
      </p:sp>
      <p:sp>
        <p:nvSpPr>
          <p:cNvPr id="17" name="Shape 13"/>
          <p:cNvSpPr/>
          <p:nvPr/>
        </p:nvSpPr>
        <p:spPr>
          <a:xfrm>
            <a:off x="2798064" y="5532120"/>
            <a:ext cx="6583680" cy="521208"/>
          </a:xfrm>
          <a:prstGeom prst="roundRect">
            <a:avLst>
              <a:gd name="adj" fmla="val 21053"/>
            </a:avLst>
          </a:prstGeom>
          <a:solidFill>
            <a:srgbClr val="083E17"/>
          </a:solidFill>
          <a:ln w="12700">
            <a:solidFill>
              <a:srgbClr val="083E17"/>
            </a:solidFill>
            <a:prstDash val="solid"/>
          </a:ln>
        </p:spPr>
        <p:txBody>
          <a:bodyPr/>
          <a:lstStyle/>
          <a:p>
            <a:endParaRPr lang="en-US"/>
          </a:p>
        </p:txBody>
      </p:sp>
      <p:sp>
        <p:nvSpPr>
          <p:cNvPr id="18" name="Text 14"/>
          <p:cNvSpPr/>
          <p:nvPr/>
        </p:nvSpPr>
        <p:spPr>
          <a:xfrm>
            <a:off x="3063240" y="5650992"/>
            <a:ext cx="6053328" cy="256032"/>
          </a:xfrm>
          <a:prstGeom prst="rect">
            <a:avLst/>
          </a:prstGeom>
          <a:noFill/>
          <a:ln/>
        </p:spPr>
        <p:txBody>
          <a:bodyPr wrap="square" lIns="0" tIns="0" rIns="0" bIns="0" rtlCol="0" anchor="ctr">
            <a:normAutofit/>
          </a:bodyPr>
          <a:lstStyle/>
          <a:p>
            <a:pPr marL="0" indent="0" algn="ctr">
              <a:buNone/>
            </a:pPr>
            <a:r>
              <a:rPr lang="en-US" sz="1400" b="1" dirty="0">
                <a:solidFill>
                  <a:srgbClr val="FFFDFC"/>
                </a:solidFill>
                <a:latin typeface="Avenir Next" pitchFamily="34" charset="0"/>
                <a:ea typeface="Avenir Next" pitchFamily="34" charset="-122"/>
                <a:cs typeface="Avenir Next" pitchFamily="34" charset="-120"/>
              </a:rPr>
              <a:t>Arcade results feed back into each player’s own garden.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EFE3"/>
        </a:solidFill>
        <a:effectLst/>
      </p:bgPr>
    </p:bg>
    <p:spTree>
      <p:nvGrpSpPr>
        <p:cNvPr id="1" name=""/>
        <p:cNvGrpSpPr/>
        <p:nvPr/>
      </p:nvGrpSpPr>
      <p:grpSpPr>
        <a:xfrm>
          <a:off x="0" y="0"/>
          <a:ext cx="0" cy="0"/>
          <a:chOff x="0" y="0"/>
          <a:chExt cx="0" cy="0"/>
        </a:xfrm>
      </p:grpSpPr>
      <p:sp>
        <p:nvSpPr>
          <p:cNvPr id="2" name="Shape 0"/>
          <p:cNvSpPr/>
          <p:nvPr/>
        </p:nvSpPr>
        <p:spPr>
          <a:xfrm>
            <a:off x="548640" y="6510528"/>
            <a:ext cx="11091672" cy="0"/>
          </a:xfrm>
          <a:prstGeom prst="line">
            <a:avLst/>
          </a:prstGeom>
          <a:noFill/>
          <a:ln w="12700">
            <a:solidFill>
              <a:srgbClr val="D8CDBE"/>
            </a:solidFill>
            <a:prstDash val="solid"/>
          </a:ln>
        </p:spPr>
        <p:txBody>
          <a:bodyPr/>
          <a:lstStyle/>
          <a:p>
            <a:endParaRPr lang="en-US"/>
          </a:p>
        </p:txBody>
      </p:sp>
      <p:sp>
        <p:nvSpPr>
          <p:cNvPr id="3" name="Text 1"/>
          <p:cNvSpPr/>
          <p:nvPr/>
        </p:nvSpPr>
        <p:spPr>
          <a:xfrm>
            <a:off x="585216" y="6547104"/>
            <a:ext cx="2834640" cy="182880"/>
          </a:xfrm>
          <a:prstGeom prst="rect">
            <a:avLst/>
          </a:prstGeom>
          <a:noFill/>
          <a:ln/>
        </p:spPr>
        <p:txBody>
          <a:bodyPr wrap="square" lIns="0" tIns="0" rIns="0" bIns="0" rtlCol="0" anchor="ctr">
            <a:normAutofit/>
          </a:bodyPr>
          <a:lstStyle/>
          <a:p>
            <a:pPr marL="0" indent="0" algn="l">
              <a:buNone/>
            </a:pPr>
            <a:r>
              <a:rPr lang="en-US" sz="800" dirty="0">
                <a:solidFill>
                  <a:srgbClr val="64806B"/>
                </a:solidFill>
                <a:latin typeface="Avenir Next" pitchFamily="34" charset="0"/>
                <a:ea typeface="Avenir Next" pitchFamily="34" charset="-122"/>
                <a:cs typeface="Avenir Next" pitchFamily="34" charset="-120"/>
              </a:rPr>
              <a:t>SPROUT · MHACKS 2026</a:t>
            </a:r>
            <a:endParaRPr lang="en-US" sz="800" dirty="0"/>
          </a:p>
        </p:txBody>
      </p:sp>
      <p:sp>
        <p:nvSpPr>
          <p:cNvPr id="4" name="Text 2"/>
          <p:cNvSpPr/>
          <p:nvPr/>
        </p:nvSpPr>
        <p:spPr>
          <a:xfrm>
            <a:off x="11201400" y="6519672"/>
            <a:ext cx="365760" cy="182880"/>
          </a:xfrm>
          <a:prstGeom prst="rect">
            <a:avLst/>
          </a:prstGeom>
          <a:noFill/>
          <a:ln/>
        </p:spPr>
        <p:txBody>
          <a:bodyPr wrap="square" lIns="0" tIns="0" rIns="0" bIns="0" rtlCol="0" anchor="ctr">
            <a:normAutofit/>
          </a:bodyPr>
          <a:lstStyle/>
          <a:p>
            <a:pPr marL="0" indent="0" algn="r">
              <a:buNone/>
            </a:pPr>
            <a:r>
              <a:rPr lang="en-US" sz="800" dirty="0">
                <a:solidFill>
                  <a:srgbClr val="64806B"/>
                </a:solidFill>
                <a:latin typeface="Avenir Next" pitchFamily="34" charset="0"/>
                <a:ea typeface="Avenir Next" pitchFamily="34" charset="-122"/>
                <a:cs typeface="Avenir Next" pitchFamily="34" charset="-120"/>
              </a:rPr>
              <a:t>7</a:t>
            </a:r>
            <a:endParaRPr lang="en-US" sz="800" dirty="0"/>
          </a:p>
        </p:txBody>
      </p:sp>
      <p:sp>
        <p:nvSpPr>
          <p:cNvPr id="5" name="Text 3"/>
          <p:cNvSpPr/>
          <p:nvPr/>
        </p:nvSpPr>
        <p:spPr>
          <a:xfrm>
            <a:off x="658368" y="384048"/>
            <a:ext cx="10789920" cy="585216"/>
          </a:xfrm>
          <a:prstGeom prst="rect">
            <a:avLst/>
          </a:prstGeom>
          <a:noFill/>
          <a:ln/>
        </p:spPr>
        <p:txBody>
          <a:bodyPr wrap="square" lIns="0" tIns="0" rIns="0" bIns="0" rtlCol="0" anchor="ctr">
            <a:normAutofit/>
          </a:bodyPr>
          <a:lstStyle/>
          <a:p>
            <a:pPr marL="0" indent="0" algn="l">
              <a:buNone/>
            </a:pPr>
            <a:r>
              <a:rPr lang="en-US" sz="3100" dirty="0">
                <a:solidFill>
                  <a:srgbClr val="083E17"/>
                </a:solidFill>
                <a:latin typeface="Instrument Serif" pitchFamily="34" charset="0"/>
                <a:ea typeface="Instrument Serif" pitchFamily="34" charset="-122"/>
                <a:cs typeface="Instrument Serif" pitchFamily="34" charset="-120"/>
              </a:rPr>
              <a:t>Why Sprout is more than an LLM wrapper.</a:t>
            </a:r>
            <a:endParaRPr lang="en-US" sz="3100" dirty="0"/>
          </a:p>
        </p:txBody>
      </p:sp>
      <p:sp>
        <p:nvSpPr>
          <p:cNvPr id="6" name="Text 4"/>
          <p:cNvSpPr/>
          <p:nvPr/>
        </p:nvSpPr>
        <p:spPr>
          <a:xfrm>
            <a:off x="685800" y="969264"/>
            <a:ext cx="10515600" cy="292608"/>
          </a:xfrm>
          <a:prstGeom prst="rect">
            <a:avLst/>
          </a:prstGeom>
          <a:noFill/>
          <a:ln/>
        </p:spPr>
        <p:txBody>
          <a:bodyPr wrap="square" lIns="0" tIns="0" rIns="0" bIns="0" rtlCol="0" anchor="ctr">
            <a:normAutofit/>
          </a:bodyPr>
          <a:lstStyle/>
          <a:p>
            <a:pPr marL="0" indent="0" algn="l">
              <a:buNone/>
            </a:pPr>
            <a:r>
              <a:rPr lang="en-US" sz="1300" dirty="0">
                <a:solidFill>
                  <a:srgbClr val="4E8A5E"/>
                </a:solidFill>
                <a:latin typeface="Avenir Next" pitchFamily="34" charset="0"/>
                <a:ea typeface="Avenir Next" pitchFamily="34" charset="-122"/>
                <a:cs typeface="Avenir Next" pitchFamily="34" charset="-120"/>
              </a:rPr>
              <a:t>The model creates language. The agent network coordinates. The backend decides and remembers.</a:t>
            </a:r>
            <a:endParaRPr lang="en-US" sz="1300" dirty="0"/>
          </a:p>
        </p:txBody>
      </p:sp>
      <p:sp>
        <p:nvSpPr>
          <p:cNvPr id="7" name="Shape 5"/>
          <p:cNvSpPr/>
          <p:nvPr/>
        </p:nvSpPr>
        <p:spPr>
          <a:xfrm>
            <a:off x="658368" y="1609344"/>
            <a:ext cx="2350008" cy="2331720"/>
          </a:xfrm>
          <a:prstGeom prst="roundRect">
            <a:avLst>
              <a:gd name="adj" fmla="val 4706"/>
            </a:avLst>
          </a:prstGeom>
          <a:solidFill>
            <a:srgbClr val="DDE8F2"/>
          </a:solidFill>
          <a:ln w="12700">
            <a:solidFill>
              <a:srgbClr val="28577A"/>
            </a:solidFill>
            <a:prstDash val="solid"/>
          </a:ln>
        </p:spPr>
        <p:txBody>
          <a:bodyPr/>
          <a:lstStyle/>
          <a:p>
            <a:endParaRPr lang="en-US"/>
          </a:p>
        </p:txBody>
      </p:sp>
      <p:sp>
        <p:nvSpPr>
          <p:cNvPr id="8" name="Text 6"/>
          <p:cNvSpPr/>
          <p:nvPr/>
        </p:nvSpPr>
        <p:spPr>
          <a:xfrm>
            <a:off x="822960" y="1847088"/>
            <a:ext cx="2020824" cy="256032"/>
          </a:xfrm>
          <a:prstGeom prst="rect">
            <a:avLst/>
          </a:prstGeom>
          <a:noFill/>
          <a:ln/>
        </p:spPr>
        <p:txBody>
          <a:bodyPr wrap="square" lIns="0" tIns="0" rIns="0" bIns="0" rtlCol="0" anchor="ctr">
            <a:normAutofit/>
          </a:bodyPr>
          <a:lstStyle/>
          <a:p>
            <a:pPr marL="0" indent="0" algn="ctr">
              <a:buNone/>
            </a:pPr>
            <a:r>
              <a:rPr lang="en-US" sz="1100" b="1" dirty="0">
                <a:solidFill>
                  <a:srgbClr val="28577A"/>
                </a:solidFill>
                <a:latin typeface="Avenir Next" pitchFamily="34" charset="0"/>
                <a:ea typeface="Avenir Next" pitchFamily="34" charset="-122"/>
                <a:cs typeface="Avenir Next" pitchFamily="34" charset="-120"/>
              </a:rPr>
              <a:t>EXPERIENCE</a:t>
            </a:r>
            <a:endParaRPr lang="en-US" sz="1100" dirty="0"/>
          </a:p>
        </p:txBody>
      </p:sp>
      <p:sp>
        <p:nvSpPr>
          <p:cNvPr id="9" name="Text 7"/>
          <p:cNvSpPr/>
          <p:nvPr/>
        </p:nvSpPr>
        <p:spPr>
          <a:xfrm>
            <a:off x="841248" y="2450592"/>
            <a:ext cx="1984248" cy="841248"/>
          </a:xfrm>
          <a:prstGeom prst="rect">
            <a:avLst/>
          </a:prstGeom>
          <a:noFill/>
          <a:ln/>
        </p:spPr>
        <p:txBody>
          <a:bodyPr wrap="square" lIns="0" tIns="0" rIns="0" bIns="0" rtlCol="0" anchor="ctr">
            <a:normAutofit/>
          </a:bodyPr>
          <a:lstStyle/>
          <a:p>
            <a:pPr marL="0" indent="0" algn="ctr">
              <a:buNone/>
            </a:pPr>
            <a:r>
              <a:rPr lang="en-US" sz="1500" b="1" dirty="0">
                <a:solidFill>
                  <a:srgbClr val="20241F"/>
                </a:solidFill>
                <a:latin typeface="Avenir Next" pitchFamily="34" charset="0"/>
                <a:ea typeface="Avenir Next" pitchFamily="34" charset="-122"/>
                <a:cs typeface="Avenir Next" pitchFamily="34" charset="-120"/>
              </a:rPr>
              <a:t>ASI:One</a:t>
            </a:r>
            <a:endParaRPr lang="en-US" sz="1500" dirty="0"/>
          </a:p>
          <a:p>
            <a:pPr marL="0" indent="0" algn="ctr">
              <a:buNone/>
            </a:pPr>
            <a:r>
              <a:rPr lang="en-US" sz="1500" b="1" dirty="0">
                <a:solidFill>
                  <a:srgbClr val="20241F"/>
                </a:solidFill>
                <a:latin typeface="Avenir Next" pitchFamily="34" charset="0"/>
                <a:ea typeface="Avenir Next" pitchFamily="34" charset="-122"/>
                <a:cs typeface="Avenir Next" pitchFamily="34" charset="-120"/>
              </a:rPr>
              <a:t>Learn · Garden · Arcade</a:t>
            </a:r>
            <a:endParaRPr lang="en-US" sz="1500" dirty="0"/>
          </a:p>
        </p:txBody>
      </p:sp>
      <p:sp>
        <p:nvSpPr>
          <p:cNvPr id="10" name="Shape 8"/>
          <p:cNvSpPr/>
          <p:nvPr/>
        </p:nvSpPr>
        <p:spPr>
          <a:xfrm>
            <a:off x="3364992" y="1609344"/>
            <a:ext cx="2350008" cy="2331720"/>
          </a:xfrm>
          <a:prstGeom prst="roundRect">
            <a:avLst>
              <a:gd name="adj" fmla="val 4706"/>
            </a:avLst>
          </a:prstGeom>
          <a:solidFill>
            <a:srgbClr val="EAF2E6"/>
          </a:solidFill>
          <a:ln w="12700">
            <a:solidFill>
              <a:srgbClr val="0B6122"/>
            </a:solidFill>
            <a:prstDash val="solid"/>
          </a:ln>
        </p:spPr>
        <p:txBody>
          <a:bodyPr/>
          <a:lstStyle/>
          <a:p>
            <a:endParaRPr lang="en-US"/>
          </a:p>
        </p:txBody>
      </p:sp>
      <p:sp>
        <p:nvSpPr>
          <p:cNvPr id="11" name="Text 9"/>
          <p:cNvSpPr/>
          <p:nvPr/>
        </p:nvSpPr>
        <p:spPr>
          <a:xfrm>
            <a:off x="3529584" y="1847088"/>
            <a:ext cx="2020824" cy="256032"/>
          </a:xfrm>
          <a:prstGeom prst="rect">
            <a:avLst/>
          </a:prstGeom>
          <a:noFill/>
          <a:ln/>
        </p:spPr>
        <p:txBody>
          <a:bodyPr wrap="square" lIns="0" tIns="0" rIns="0" bIns="0" rtlCol="0" anchor="ctr">
            <a:normAutofit/>
          </a:bodyPr>
          <a:lstStyle/>
          <a:p>
            <a:pPr marL="0" indent="0" algn="ctr">
              <a:buNone/>
            </a:pPr>
            <a:r>
              <a:rPr lang="en-US" sz="1100" b="1" dirty="0">
                <a:solidFill>
                  <a:srgbClr val="0B6122"/>
                </a:solidFill>
                <a:latin typeface="Avenir Next" pitchFamily="34" charset="0"/>
                <a:ea typeface="Avenir Next" pitchFamily="34" charset="-122"/>
                <a:cs typeface="Avenir Next" pitchFamily="34" charset="-120"/>
              </a:rPr>
              <a:t>AGENT NETWORK</a:t>
            </a:r>
            <a:endParaRPr lang="en-US" sz="1100" dirty="0"/>
          </a:p>
        </p:txBody>
      </p:sp>
      <p:sp>
        <p:nvSpPr>
          <p:cNvPr id="12" name="Text 10"/>
          <p:cNvSpPr/>
          <p:nvPr/>
        </p:nvSpPr>
        <p:spPr>
          <a:xfrm>
            <a:off x="3547872" y="2450592"/>
            <a:ext cx="1984248" cy="841248"/>
          </a:xfrm>
          <a:prstGeom prst="rect">
            <a:avLst/>
          </a:prstGeom>
          <a:noFill/>
          <a:ln/>
        </p:spPr>
        <p:txBody>
          <a:bodyPr wrap="square" lIns="0" tIns="0" rIns="0" bIns="0" rtlCol="0" anchor="ctr">
            <a:normAutofit/>
          </a:bodyPr>
          <a:lstStyle/>
          <a:p>
            <a:pPr marL="0" indent="0" algn="ctr">
              <a:buNone/>
            </a:pPr>
            <a:r>
              <a:rPr lang="en-US" sz="1500" b="1" dirty="0">
                <a:solidFill>
                  <a:srgbClr val="20241F"/>
                </a:solidFill>
                <a:latin typeface="Avenir Next" pitchFamily="34" charset="0"/>
                <a:ea typeface="Avenir Next" pitchFamily="34" charset="-122"/>
                <a:cs typeface="Avenir Next" pitchFamily="34" charset="-120"/>
              </a:rPr>
              <a:t>Sprout</a:t>
            </a:r>
            <a:endParaRPr lang="en-US" sz="1500" dirty="0"/>
          </a:p>
          <a:p>
            <a:pPr marL="0" indent="0" algn="ctr">
              <a:buNone/>
            </a:pPr>
            <a:r>
              <a:rPr lang="en-US" sz="1500" b="1" dirty="0">
                <a:solidFill>
                  <a:srgbClr val="20241F"/>
                </a:solidFill>
                <a:latin typeface="Avenir Next" pitchFamily="34" charset="0"/>
                <a:ea typeface="Avenir Next" pitchFamily="34" charset="-122"/>
                <a:cs typeface="Avenir Next" pitchFamily="34" charset="-120"/>
              </a:rPr>
              <a:t>Curriculum · Tutor</a:t>
            </a:r>
            <a:endParaRPr lang="en-US" sz="1500" dirty="0"/>
          </a:p>
        </p:txBody>
      </p:sp>
      <p:sp>
        <p:nvSpPr>
          <p:cNvPr id="13" name="Shape 11"/>
          <p:cNvSpPr/>
          <p:nvPr/>
        </p:nvSpPr>
        <p:spPr>
          <a:xfrm>
            <a:off x="6071616" y="1609344"/>
            <a:ext cx="2350008" cy="2331720"/>
          </a:xfrm>
          <a:prstGeom prst="roundRect">
            <a:avLst>
              <a:gd name="adj" fmla="val 4706"/>
            </a:avLst>
          </a:prstGeom>
          <a:solidFill>
            <a:srgbClr val="E8E1F2"/>
          </a:solidFill>
          <a:ln w="12700">
            <a:solidFill>
              <a:srgbClr val="604981"/>
            </a:solidFill>
            <a:prstDash val="solid"/>
          </a:ln>
        </p:spPr>
        <p:txBody>
          <a:bodyPr/>
          <a:lstStyle/>
          <a:p>
            <a:endParaRPr lang="en-US"/>
          </a:p>
        </p:txBody>
      </p:sp>
      <p:sp>
        <p:nvSpPr>
          <p:cNvPr id="14" name="Text 12"/>
          <p:cNvSpPr/>
          <p:nvPr/>
        </p:nvSpPr>
        <p:spPr>
          <a:xfrm>
            <a:off x="6236208" y="1847088"/>
            <a:ext cx="2020824" cy="256032"/>
          </a:xfrm>
          <a:prstGeom prst="rect">
            <a:avLst/>
          </a:prstGeom>
          <a:noFill/>
          <a:ln/>
        </p:spPr>
        <p:txBody>
          <a:bodyPr wrap="square" lIns="0" tIns="0" rIns="0" bIns="0" rtlCol="0" anchor="ctr">
            <a:normAutofit/>
          </a:bodyPr>
          <a:lstStyle/>
          <a:p>
            <a:pPr marL="0" indent="0" algn="ctr">
              <a:buNone/>
            </a:pPr>
            <a:r>
              <a:rPr lang="en-US" sz="1100" b="1" dirty="0">
                <a:solidFill>
                  <a:srgbClr val="604981"/>
                </a:solidFill>
                <a:latin typeface="Avenir Next" pitchFamily="34" charset="0"/>
                <a:ea typeface="Avenir Next" pitchFamily="34" charset="-122"/>
                <a:cs typeface="Avenir Next" pitchFamily="34" charset="-120"/>
              </a:rPr>
              <a:t>DECISION ENGINE</a:t>
            </a:r>
            <a:endParaRPr lang="en-US" sz="1100" dirty="0"/>
          </a:p>
        </p:txBody>
      </p:sp>
      <p:sp>
        <p:nvSpPr>
          <p:cNvPr id="15" name="Text 13"/>
          <p:cNvSpPr/>
          <p:nvPr/>
        </p:nvSpPr>
        <p:spPr>
          <a:xfrm>
            <a:off x="6254496" y="2450592"/>
            <a:ext cx="1984248" cy="841248"/>
          </a:xfrm>
          <a:prstGeom prst="rect">
            <a:avLst/>
          </a:prstGeom>
          <a:noFill/>
          <a:ln/>
        </p:spPr>
        <p:txBody>
          <a:bodyPr wrap="square" lIns="0" tIns="0" rIns="0" bIns="0" rtlCol="0" anchor="ctr">
            <a:normAutofit/>
          </a:bodyPr>
          <a:lstStyle/>
          <a:p>
            <a:pPr marL="0" indent="0" algn="ctr">
              <a:buNone/>
            </a:pPr>
            <a:r>
              <a:rPr lang="en-US" sz="1500" b="1" dirty="0">
                <a:solidFill>
                  <a:srgbClr val="20241F"/>
                </a:solidFill>
                <a:latin typeface="Avenir Next" pitchFamily="34" charset="0"/>
                <a:ea typeface="Avenir Next" pitchFamily="34" charset="-122"/>
                <a:cs typeface="Avenir Next" pitchFamily="34" charset="-120"/>
              </a:rPr>
              <a:t>BKT · SM-2</a:t>
            </a:r>
            <a:endParaRPr lang="en-US" sz="1500" dirty="0"/>
          </a:p>
          <a:p>
            <a:pPr marL="0" indent="0" algn="ctr">
              <a:buNone/>
            </a:pPr>
            <a:r>
              <a:rPr lang="en-US" sz="1500" b="1" dirty="0">
                <a:solidFill>
                  <a:srgbClr val="20241F"/>
                </a:solidFill>
                <a:latin typeface="Avenir Next" pitchFamily="34" charset="0"/>
                <a:ea typeface="Avenir Next" pitchFamily="34" charset="-122"/>
                <a:cs typeface="Avenir Next" pitchFamily="34" charset="-120"/>
              </a:rPr>
              <a:t>Bandit · prerequisite policy</a:t>
            </a:r>
            <a:endParaRPr lang="en-US" sz="1500" dirty="0"/>
          </a:p>
        </p:txBody>
      </p:sp>
      <p:sp>
        <p:nvSpPr>
          <p:cNvPr id="16" name="Shape 14"/>
          <p:cNvSpPr/>
          <p:nvPr/>
        </p:nvSpPr>
        <p:spPr>
          <a:xfrm>
            <a:off x="8778240" y="1609344"/>
            <a:ext cx="2350008" cy="2331720"/>
          </a:xfrm>
          <a:prstGeom prst="roundRect">
            <a:avLst>
              <a:gd name="adj" fmla="val 4706"/>
            </a:avLst>
          </a:prstGeom>
          <a:solidFill>
            <a:srgbClr val="FFF2D5"/>
          </a:solidFill>
          <a:ln w="12700">
            <a:solidFill>
              <a:srgbClr val="8A6400"/>
            </a:solidFill>
            <a:prstDash val="solid"/>
          </a:ln>
        </p:spPr>
        <p:txBody>
          <a:bodyPr/>
          <a:lstStyle/>
          <a:p>
            <a:endParaRPr lang="en-US"/>
          </a:p>
        </p:txBody>
      </p:sp>
      <p:sp>
        <p:nvSpPr>
          <p:cNvPr id="17" name="Text 15"/>
          <p:cNvSpPr/>
          <p:nvPr/>
        </p:nvSpPr>
        <p:spPr>
          <a:xfrm>
            <a:off x="8942832" y="1847088"/>
            <a:ext cx="2020824" cy="256032"/>
          </a:xfrm>
          <a:prstGeom prst="rect">
            <a:avLst/>
          </a:prstGeom>
          <a:noFill/>
          <a:ln/>
        </p:spPr>
        <p:txBody>
          <a:bodyPr wrap="square" lIns="0" tIns="0" rIns="0" bIns="0" rtlCol="0" anchor="ctr">
            <a:normAutofit/>
          </a:bodyPr>
          <a:lstStyle/>
          <a:p>
            <a:pPr marL="0" indent="0" algn="ctr">
              <a:buNone/>
            </a:pPr>
            <a:r>
              <a:rPr lang="en-US" sz="1100" b="1" dirty="0">
                <a:solidFill>
                  <a:srgbClr val="8A6400"/>
                </a:solidFill>
                <a:latin typeface="Avenir Next" pitchFamily="34" charset="0"/>
                <a:ea typeface="Avenir Next" pitchFamily="34" charset="-122"/>
                <a:cs typeface="Avenir Next" pitchFamily="34" charset="-120"/>
              </a:rPr>
              <a:t>SHARED STATE</a:t>
            </a:r>
            <a:endParaRPr lang="en-US" sz="1100" dirty="0"/>
          </a:p>
        </p:txBody>
      </p:sp>
      <p:sp>
        <p:nvSpPr>
          <p:cNvPr id="18" name="Text 16"/>
          <p:cNvSpPr/>
          <p:nvPr/>
        </p:nvSpPr>
        <p:spPr>
          <a:xfrm>
            <a:off x="8961120" y="2450592"/>
            <a:ext cx="1984248" cy="841248"/>
          </a:xfrm>
          <a:prstGeom prst="rect">
            <a:avLst/>
          </a:prstGeom>
          <a:noFill/>
          <a:ln/>
        </p:spPr>
        <p:txBody>
          <a:bodyPr wrap="square" lIns="0" tIns="0" rIns="0" bIns="0" rtlCol="0" anchor="ctr">
            <a:normAutofit/>
          </a:bodyPr>
          <a:lstStyle/>
          <a:p>
            <a:pPr marL="0" indent="0" algn="ctr">
              <a:buNone/>
            </a:pPr>
            <a:r>
              <a:rPr lang="en-US" sz="1500" b="1" dirty="0">
                <a:solidFill>
                  <a:srgbClr val="20241F"/>
                </a:solidFill>
                <a:latin typeface="Avenir Next" pitchFamily="34" charset="0"/>
                <a:ea typeface="Avenir Next" pitchFamily="34" charset="-122"/>
                <a:cs typeface="Avenir Next" pitchFamily="34" charset="-120"/>
              </a:rPr>
              <a:t>Course graph · mastery</a:t>
            </a:r>
            <a:endParaRPr lang="en-US" sz="1500" dirty="0"/>
          </a:p>
          <a:p>
            <a:pPr marL="0" indent="0" algn="ctr">
              <a:buNone/>
            </a:pPr>
            <a:r>
              <a:rPr lang="en-US" sz="1500" b="1" dirty="0">
                <a:solidFill>
                  <a:srgbClr val="20241F"/>
                </a:solidFill>
                <a:latin typeface="Avenir Next" pitchFamily="34" charset="0"/>
                <a:ea typeface="Avenir Next" pitchFamily="34" charset="-122"/>
                <a:cs typeface="Avenir Next" pitchFamily="34" charset="-120"/>
              </a:rPr>
              <a:t>Review · rooms · scores</a:t>
            </a:r>
            <a:endParaRPr lang="en-US" sz="1500" dirty="0"/>
          </a:p>
        </p:txBody>
      </p:sp>
      <p:sp>
        <p:nvSpPr>
          <p:cNvPr id="19" name="Shape 17"/>
          <p:cNvSpPr/>
          <p:nvPr/>
        </p:nvSpPr>
        <p:spPr>
          <a:xfrm>
            <a:off x="3054096" y="2779776"/>
            <a:ext cx="256032" cy="0"/>
          </a:xfrm>
          <a:prstGeom prst="line">
            <a:avLst/>
          </a:prstGeom>
          <a:noFill/>
          <a:ln w="31750">
            <a:solidFill>
              <a:srgbClr val="28577A"/>
            </a:solidFill>
            <a:prstDash val="solid"/>
            <a:headEnd type="none"/>
            <a:tailEnd type="triangle"/>
          </a:ln>
        </p:spPr>
        <p:txBody>
          <a:bodyPr/>
          <a:lstStyle/>
          <a:p>
            <a:endParaRPr lang="en-US"/>
          </a:p>
        </p:txBody>
      </p:sp>
      <p:sp>
        <p:nvSpPr>
          <p:cNvPr id="20" name="Shape 18"/>
          <p:cNvSpPr/>
          <p:nvPr/>
        </p:nvSpPr>
        <p:spPr>
          <a:xfrm>
            <a:off x="5760720" y="2779776"/>
            <a:ext cx="256032" cy="0"/>
          </a:xfrm>
          <a:prstGeom prst="line">
            <a:avLst/>
          </a:prstGeom>
          <a:noFill/>
          <a:ln w="31750">
            <a:solidFill>
              <a:srgbClr val="0B6122"/>
            </a:solidFill>
            <a:prstDash val="solid"/>
            <a:headEnd type="none"/>
            <a:tailEnd type="triangle"/>
          </a:ln>
        </p:spPr>
        <p:txBody>
          <a:bodyPr/>
          <a:lstStyle/>
          <a:p>
            <a:endParaRPr lang="en-US"/>
          </a:p>
        </p:txBody>
      </p:sp>
      <p:sp>
        <p:nvSpPr>
          <p:cNvPr id="21" name="Shape 19"/>
          <p:cNvSpPr/>
          <p:nvPr/>
        </p:nvSpPr>
        <p:spPr>
          <a:xfrm>
            <a:off x="8467344" y="2779776"/>
            <a:ext cx="256032" cy="0"/>
          </a:xfrm>
          <a:prstGeom prst="line">
            <a:avLst/>
          </a:prstGeom>
          <a:noFill/>
          <a:ln w="31750">
            <a:solidFill>
              <a:srgbClr val="604981"/>
            </a:solidFill>
            <a:prstDash val="solid"/>
            <a:headEnd type="none"/>
            <a:tailEnd type="triangle"/>
          </a:ln>
        </p:spPr>
        <p:txBody>
          <a:bodyPr/>
          <a:lstStyle/>
          <a:p>
            <a:endParaRPr lang="en-US"/>
          </a:p>
        </p:txBody>
      </p:sp>
      <p:sp>
        <p:nvSpPr>
          <p:cNvPr id="22" name="Text 20"/>
          <p:cNvSpPr/>
          <p:nvPr/>
        </p:nvSpPr>
        <p:spPr>
          <a:xfrm>
            <a:off x="896112" y="4251960"/>
            <a:ext cx="1874520" cy="274320"/>
          </a:xfrm>
          <a:prstGeom prst="rect">
            <a:avLst/>
          </a:prstGeom>
          <a:noFill/>
          <a:ln/>
        </p:spPr>
        <p:txBody>
          <a:bodyPr wrap="square" lIns="0" tIns="0" rIns="0" bIns="0" rtlCol="0" anchor="ctr">
            <a:normAutofit/>
          </a:bodyPr>
          <a:lstStyle/>
          <a:p>
            <a:pPr marL="0" indent="0" algn="ctr">
              <a:buNone/>
            </a:pPr>
            <a:r>
              <a:rPr lang="en-US" sz="1100" b="1" dirty="0">
                <a:solidFill>
                  <a:srgbClr val="28577A"/>
                </a:solidFill>
                <a:latin typeface="Avenir Next" pitchFamily="34" charset="0"/>
                <a:ea typeface="Avenir Next" pitchFamily="34" charset="-122"/>
                <a:cs typeface="Avenir Next" pitchFamily="34" charset="-120"/>
              </a:rPr>
              <a:t>conversation</a:t>
            </a:r>
            <a:endParaRPr lang="en-US" sz="1100" dirty="0"/>
          </a:p>
        </p:txBody>
      </p:sp>
      <p:sp>
        <p:nvSpPr>
          <p:cNvPr id="23" name="Shape 21"/>
          <p:cNvSpPr/>
          <p:nvPr/>
        </p:nvSpPr>
        <p:spPr>
          <a:xfrm>
            <a:off x="2761488" y="4389120"/>
            <a:ext cx="941832" cy="0"/>
          </a:xfrm>
          <a:prstGeom prst="line">
            <a:avLst/>
          </a:prstGeom>
          <a:noFill/>
          <a:ln w="31750">
            <a:solidFill>
              <a:srgbClr val="28577A"/>
            </a:solidFill>
            <a:prstDash val="solid"/>
            <a:headEnd type="none"/>
            <a:tailEnd type="triangle"/>
          </a:ln>
        </p:spPr>
        <p:txBody>
          <a:bodyPr/>
          <a:lstStyle/>
          <a:p>
            <a:endParaRPr lang="en-US"/>
          </a:p>
        </p:txBody>
      </p:sp>
      <p:sp>
        <p:nvSpPr>
          <p:cNvPr id="24" name="Text 22"/>
          <p:cNvSpPr/>
          <p:nvPr/>
        </p:nvSpPr>
        <p:spPr>
          <a:xfrm>
            <a:off x="3712464" y="4251960"/>
            <a:ext cx="1874520" cy="274320"/>
          </a:xfrm>
          <a:prstGeom prst="rect">
            <a:avLst/>
          </a:prstGeom>
          <a:noFill/>
          <a:ln/>
        </p:spPr>
        <p:txBody>
          <a:bodyPr wrap="square" lIns="0" tIns="0" rIns="0" bIns="0" rtlCol="0" anchor="ctr">
            <a:normAutofit/>
          </a:bodyPr>
          <a:lstStyle/>
          <a:p>
            <a:pPr marL="0" indent="0" algn="ctr">
              <a:buNone/>
            </a:pPr>
            <a:r>
              <a:rPr lang="en-US" sz="1100" b="1" dirty="0">
                <a:solidFill>
                  <a:srgbClr val="0B6122"/>
                </a:solidFill>
                <a:latin typeface="Avenir Next" pitchFamily="34" charset="0"/>
                <a:ea typeface="Avenir Next" pitchFamily="34" charset="-122"/>
                <a:cs typeface="Avenir Next" pitchFamily="34" charset="-120"/>
              </a:rPr>
              <a:t>coordination</a:t>
            </a:r>
            <a:endParaRPr lang="en-US" sz="1100" dirty="0"/>
          </a:p>
        </p:txBody>
      </p:sp>
      <p:sp>
        <p:nvSpPr>
          <p:cNvPr id="25" name="Shape 23"/>
          <p:cNvSpPr/>
          <p:nvPr/>
        </p:nvSpPr>
        <p:spPr>
          <a:xfrm>
            <a:off x="5586984" y="4389120"/>
            <a:ext cx="941832" cy="0"/>
          </a:xfrm>
          <a:prstGeom prst="line">
            <a:avLst/>
          </a:prstGeom>
          <a:noFill/>
          <a:ln w="31750">
            <a:solidFill>
              <a:srgbClr val="0B6122"/>
            </a:solidFill>
            <a:prstDash val="solid"/>
            <a:headEnd type="none"/>
            <a:tailEnd type="triangle"/>
          </a:ln>
        </p:spPr>
        <p:txBody>
          <a:bodyPr/>
          <a:lstStyle/>
          <a:p>
            <a:endParaRPr lang="en-US"/>
          </a:p>
        </p:txBody>
      </p:sp>
      <p:sp>
        <p:nvSpPr>
          <p:cNvPr id="26" name="Text 24"/>
          <p:cNvSpPr/>
          <p:nvPr/>
        </p:nvSpPr>
        <p:spPr>
          <a:xfrm>
            <a:off x="6537960" y="4251960"/>
            <a:ext cx="1874520" cy="274320"/>
          </a:xfrm>
          <a:prstGeom prst="rect">
            <a:avLst/>
          </a:prstGeom>
          <a:noFill/>
          <a:ln/>
        </p:spPr>
        <p:txBody>
          <a:bodyPr wrap="square" lIns="0" tIns="0" rIns="0" bIns="0" rtlCol="0" anchor="ctr">
            <a:normAutofit/>
          </a:bodyPr>
          <a:lstStyle/>
          <a:p>
            <a:pPr marL="0" indent="0" algn="ctr">
              <a:buNone/>
            </a:pPr>
            <a:r>
              <a:rPr lang="en-US" sz="1100" b="1" dirty="0">
                <a:solidFill>
                  <a:srgbClr val="604981"/>
                </a:solidFill>
                <a:latin typeface="Avenir Next" pitchFamily="34" charset="0"/>
                <a:ea typeface="Avenir Next" pitchFamily="34" charset="-122"/>
                <a:cs typeface="Avenir Next" pitchFamily="34" charset="-120"/>
              </a:rPr>
              <a:t>transaction</a:t>
            </a:r>
            <a:endParaRPr lang="en-US" sz="1100" dirty="0"/>
          </a:p>
        </p:txBody>
      </p:sp>
      <p:sp>
        <p:nvSpPr>
          <p:cNvPr id="27" name="Shape 25"/>
          <p:cNvSpPr/>
          <p:nvPr/>
        </p:nvSpPr>
        <p:spPr>
          <a:xfrm>
            <a:off x="8412480" y="4389120"/>
            <a:ext cx="941832" cy="0"/>
          </a:xfrm>
          <a:prstGeom prst="line">
            <a:avLst/>
          </a:prstGeom>
          <a:noFill/>
          <a:ln w="31750">
            <a:solidFill>
              <a:srgbClr val="604981"/>
            </a:solidFill>
            <a:prstDash val="solid"/>
            <a:headEnd type="none"/>
            <a:tailEnd type="triangle"/>
          </a:ln>
        </p:spPr>
        <p:txBody>
          <a:bodyPr/>
          <a:lstStyle/>
          <a:p>
            <a:endParaRPr lang="en-US"/>
          </a:p>
        </p:txBody>
      </p:sp>
      <p:sp>
        <p:nvSpPr>
          <p:cNvPr id="28" name="Text 26"/>
          <p:cNvSpPr/>
          <p:nvPr/>
        </p:nvSpPr>
        <p:spPr>
          <a:xfrm>
            <a:off x="9372600" y="4251960"/>
            <a:ext cx="1490472" cy="274320"/>
          </a:xfrm>
          <a:prstGeom prst="rect">
            <a:avLst/>
          </a:prstGeom>
          <a:noFill/>
          <a:ln/>
        </p:spPr>
        <p:txBody>
          <a:bodyPr wrap="square" lIns="0" tIns="0" rIns="0" bIns="0" rtlCol="0" anchor="ctr">
            <a:normAutofit/>
          </a:bodyPr>
          <a:lstStyle/>
          <a:p>
            <a:pPr marL="0" indent="0" algn="ctr">
              <a:buNone/>
            </a:pPr>
            <a:r>
              <a:rPr lang="en-US" sz="1100" b="1" dirty="0">
                <a:solidFill>
                  <a:srgbClr val="8A6400"/>
                </a:solidFill>
                <a:latin typeface="Avenir Next" pitchFamily="34" charset="0"/>
                <a:ea typeface="Avenir Next" pitchFamily="34" charset="-122"/>
                <a:cs typeface="Avenir Next" pitchFamily="34" charset="-120"/>
              </a:rPr>
              <a:t>memory</a:t>
            </a:r>
            <a:endParaRPr lang="en-US" sz="1100" dirty="0"/>
          </a:p>
        </p:txBody>
      </p:sp>
      <p:sp>
        <p:nvSpPr>
          <p:cNvPr id="29" name="Shape 27"/>
          <p:cNvSpPr/>
          <p:nvPr/>
        </p:nvSpPr>
        <p:spPr>
          <a:xfrm>
            <a:off x="960120" y="5614416"/>
            <a:ext cx="3794760" cy="310896"/>
          </a:xfrm>
          <a:prstGeom prst="roundRect">
            <a:avLst>
              <a:gd name="adj" fmla="val 50000"/>
            </a:avLst>
          </a:prstGeom>
          <a:solidFill>
            <a:srgbClr val="DDE8F2"/>
          </a:solidFill>
          <a:ln w="12700">
            <a:solidFill>
              <a:srgbClr val="DDE8F2"/>
            </a:solidFill>
            <a:prstDash val="solid"/>
          </a:ln>
        </p:spPr>
        <p:txBody>
          <a:bodyPr/>
          <a:lstStyle/>
          <a:p>
            <a:endParaRPr lang="en-US"/>
          </a:p>
        </p:txBody>
      </p:sp>
      <p:sp>
        <p:nvSpPr>
          <p:cNvPr id="30" name="Text 28"/>
          <p:cNvSpPr/>
          <p:nvPr/>
        </p:nvSpPr>
        <p:spPr>
          <a:xfrm>
            <a:off x="1024128" y="5632704"/>
            <a:ext cx="3666744" cy="256032"/>
          </a:xfrm>
          <a:prstGeom prst="rect">
            <a:avLst/>
          </a:prstGeom>
          <a:noFill/>
          <a:ln/>
        </p:spPr>
        <p:txBody>
          <a:bodyPr wrap="square" lIns="0" tIns="0" rIns="0" bIns="0" rtlCol="0" anchor="ctr">
            <a:normAutofit/>
          </a:bodyPr>
          <a:lstStyle/>
          <a:p>
            <a:pPr marL="0" indent="0" algn="ctr">
              <a:buNone/>
            </a:pPr>
            <a:r>
              <a:rPr lang="en-US" sz="1000" b="1" dirty="0">
                <a:solidFill>
                  <a:srgbClr val="28577A"/>
                </a:solidFill>
                <a:latin typeface="Avenir Next" pitchFamily="34" charset="0"/>
                <a:ea typeface="Avenir Next" pitchFamily="34" charset="-122"/>
                <a:cs typeface="Avenir Next" pitchFamily="34" charset="-120"/>
              </a:rPr>
              <a:t>FETCH.AI · agent runtime + ACP + ASI:One</a:t>
            </a:r>
            <a:endParaRPr lang="en-US" sz="1000" dirty="0"/>
          </a:p>
        </p:txBody>
      </p:sp>
      <p:sp>
        <p:nvSpPr>
          <p:cNvPr id="31" name="Shape 29"/>
          <p:cNvSpPr/>
          <p:nvPr/>
        </p:nvSpPr>
        <p:spPr>
          <a:xfrm>
            <a:off x="5001768" y="5614416"/>
            <a:ext cx="4681728" cy="310896"/>
          </a:xfrm>
          <a:prstGeom prst="roundRect">
            <a:avLst>
              <a:gd name="adj" fmla="val 50000"/>
            </a:avLst>
          </a:prstGeom>
          <a:solidFill>
            <a:srgbClr val="E8E1F2"/>
          </a:solidFill>
          <a:ln w="12700">
            <a:solidFill>
              <a:srgbClr val="E8E1F2"/>
            </a:solidFill>
            <a:prstDash val="solid"/>
          </a:ln>
        </p:spPr>
        <p:txBody>
          <a:bodyPr/>
          <a:lstStyle/>
          <a:p>
            <a:endParaRPr lang="en-US"/>
          </a:p>
        </p:txBody>
      </p:sp>
      <p:sp>
        <p:nvSpPr>
          <p:cNvPr id="32" name="Text 30"/>
          <p:cNvSpPr/>
          <p:nvPr/>
        </p:nvSpPr>
        <p:spPr>
          <a:xfrm>
            <a:off x="5065776" y="5632704"/>
            <a:ext cx="4553712" cy="256032"/>
          </a:xfrm>
          <a:prstGeom prst="rect">
            <a:avLst/>
          </a:prstGeom>
          <a:noFill/>
          <a:ln/>
        </p:spPr>
        <p:txBody>
          <a:bodyPr wrap="square" lIns="0" tIns="0" rIns="0" bIns="0" rtlCol="0" anchor="ctr">
            <a:normAutofit/>
          </a:bodyPr>
          <a:lstStyle/>
          <a:p>
            <a:pPr marL="0" indent="0" algn="ctr">
              <a:buNone/>
            </a:pPr>
            <a:r>
              <a:rPr lang="en-US" sz="1000" b="1" dirty="0">
                <a:solidFill>
                  <a:srgbClr val="604981"/>
                </a:solidFill>
                <a:latin typeface="Avenir Next" pitchFamily="34" charset="0"/>
                <a:ea typeface="Avenir Next" pitchFamily="34" charset="-122"/>
                <a:cs typeface="Avenir Next" pitchFamily="34" charset="-120"/>
              </a:rPr>
              <a:t>SPACETIMEDB · transactions + subscriptions + state</a:t>
            </a:r>
            <a:endParaRPr lang="en-US" sz="1000" dirty="0"/>
          </a:p>
        </p:txBody>
      </p:sp>
      <p:sp>
        <p:nvSpPr>
          <p:cNvPr id="33" name="Text 31"/>
          <p:cNvSpPr/>
          <p:nvPr/>
        </p:nvSpPr>
        <p:spPr>
          <a:xfrm>
            <a:off x="1307592" y="6062472"/>
            <a:ext cx="9601200" cy="310896"/>
          </a:xfrm>
          <a:prstGeom prst="rect">
            <a:avLst/>
          </a:prstGeom>
          <a:noFill/>
          <a:ln/>
        </p:spPr>
        <p:txBody>
          <a:bodyPr wrap="square" lIns="0" tIns="0" rIns="0" bIns="0" rtlCol="0" anchor="ctr">
            <a:normAutofit/>
          </a:bodyPr>
          <a:lstStyle/>
          <a:p>
            <a:pPr marL="0" indent="0" algn="ctr">
              <a:buNone/>
            </a:pPr>
            <a:r>
              <a:rPr lang="en-US" sz="1900" i="1" dirty="0">
                <a:solidFill>
                  <a:srgbClr val="083E17"/>
                </a:solidFill>
                <a:latin typeface="Instrument Serif" pitchFamily="34" charset="0"/>
                <a:ea typeface="Instrument Serif" pitchFamily="34" charset="-122"/>
                <a:cs typeface="Instrument Serif" pitchFamily="34" charset="-120"/>
              </a:rPr>
              <a:t>Sprout turns “What should I study?” into one evidence-based next action.</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strument Serif"/>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venir N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825</Words>
  <Application>Microsoft Macintosh PowerPoint</Application>
  <PresentationFormat>Widescreen</PresentationFormat>
  <Paragraphs>134</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Avenir Next</vt:lpstr>
      <vt:lpstr>Instrument 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Sprout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Sprout — multi-agent adaptive learning</dc:title>
  <dc:subject>MHacks 2026 three-minute pitch</dc:subject>
  <dc:creator>Sprout</dc:creator>
  <cp:lastModifiedBy>Ashmith Yaramada</cp:lastModifiedBy>
  <cp:revision>1</cp:revision>
  <dcterms:created xsi:type="dcterms:W3CDTF">2026-10-04T11:49:22Z</dcterms:created>
  <dcterms:modified xsi:type="dcterms:W3CDTF">2026-10-04T11:50:18Z</dcterms:modified>
</cp:coreProperties>
</file>