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0:00–0:22. Hook: students have more material but still choose what to study next. Name Sprout and the cross-chat memory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0:22–0:48. Explain the map, prerequisite-aware decision, and three updates after every answer. Switch to ASI:One after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1:58–2:34. Explain BKT, SM-2, Thompson sampling and transactional updates. Mention synchronized quiz rooms only after the core loop.,Source: Fetch.ai MHacks 2026 hackpack and official MHacks track descriptions, accessed 2026-10-04.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2:34–3:00. Close with the exact final sentence from README.md, then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answer for technical judges. Be precise: format evidence updates only for taught checks, practice, and review attempts that carry a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official MHacks 2026 Best use of Spacetime track description, accessed 2026-10-04.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only if a judge asks what has been verified. Do not overclaim multiplayer deployment or measured learning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8CD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654710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SPROUT · MHACKS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201400" y="6519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</a:t>
            </a:r>
            <a:endParaRPr lang="en-US" sz="800" dirty="0"/>
          </a:p>
        </p:txBody>
      </p:sp>
      <p:pic>
        <p:nvPicPr>
          <p:cNvPr id="5" name="Image 0" descr="/Users/ashmith/sprout/web/public/leaf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 rot="900000">
            <a:off x="9710928" y="18288"/>
            <a:ext cx="2423160" cy="2423160"/>
          </a:xfrm>
          <a:prstGeom prst="rect">
            <a:avLst/>
          </a:prstGeom>
        </p:spPr>
      </p:pic>
      <p:pic>
        <p:nvPicPr>
          <p:cNvPr id="6" name="Image 1" descr="/Users/ashmith/sprout/web/public/leaf.png">    </p:cNvPr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 rot="11700000">
            <a:off x="18288" y="4983480"/>
            <a:ext cx="1737360" cy="1737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932688"/>
            <a:ext cx="69494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0" dirty="0">
                <a:solidFill>
                  <a:srgbClr val="0B612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sprout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786384" y="21579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remembers what you know.</a:t>
            </a:r>
            <a:endParaRPr lang="en-US" sz="4200" dirty="0"/>
          </a:p>
        </p:txBody>
      </p:sp>
      <p:sp>
        <p:nvSpPr>
          <p:cNvPr id="9" name="Text 5"/>
          <p:cNvSpPr/>
          <p:nvPr/>
        </p:nvSpPr>
        <p:spPr>
          <a:xfrm>
            <a:off x="822960" y="321868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adaptive study partner inside ASI:One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822960" y="3913632"/>
            <a:ext cx="1600200" cy="310896"/>
          </a:xfrm>
          <a:prstGeom prst="roundRect">
            <a:avLst>
              <a:gd name="adj" fmla="val 47059"/>
            </a:avLst>
          </a:prstGeom>
          <a:solidFill>
            <a:srgbClr val="DDEBD7"/>
          </a:solidFill>
          <a:ln w="12700">
            <a:solidFill>
              <a:srgbClr val="DDEBD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96112" y="3941064"/>
            <a:ext cx="1453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Actually Intelligent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2606040" y="3913632"/>
            <a:ext cx="1024128" cy="310896"/>
          </a:xfrm>
          <a:prstGeom prst="roundRect">
            <a:avLst>
              <a:gd name="adj" fmla="val 47059"/>
            </a:avLst>
          </a:prstGeom>
          <a:solidFill>
            <a:srgbClr val="DDE8F2"/>
          </a:solidFill>
          <a:ln w="12700">
            <a:solidFill>
              <a:srgbClr val="DDE8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679192" y="3941064"/>
            <a:ext cx="877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57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Fetch.ai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822192" y="3913632"/>
            <a:ext cx="1353312" cy="310896"/>
          </a:xfrm>
          <a:prstGeom prst="roundRect">
            <a:avLst>
              <a:gd name="adj" fmla="val 47059"/>
            </a:avLst>
          </a:prstGeom>
          <a:solidFill>
            <a:srgbClr val="E8E1F2"/>
          </a:solidFill>
          <a:ln w="12700">
            <a:solidFill>
              <a:srgbClr val="E8E1F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895344" y="3941064"/>
            <a:ext cx="1207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0498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SpacetimeDB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936992" y="2944368"/>
            <a:ext cx="3090672" cy="1874520"/>
          </a:xfrm>
          <a:prstGeom prst="roundRect">
            <a:avLst>
              <a:gd name="adj" fmla="val 5854"/>
            </a:avLst>
          </a:prstGeom>
          <a:solidFill>
            <a:srgbClr val="FFFDFC"/>
          </a:solidFill>
          <a:ln w="12700">
            <a:solidFill>
              <a:srgbClr val="C5D9C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75320" y="3236976"/>
            <a:ext cx="2414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What should I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study next?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8339328" y="42976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E8A5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clear answer, based on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8CD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654710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SPROUT · MHACKS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201400" y="6519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4114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syllabus becomes a learning plan.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07899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E8A5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live demo begins after this slide.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627632"/>
            <a:ext cx="2743200" cy="4370832"/>
          </a:xfrm>
          <a:prstGeom prst="roundRect">
            <a:avLst>
              <a:gd name="adj" fmla="val 4000"/>
            </a:avLst>
          </a:prstGeom>
          <a:solidFill>
            <a:srgbClr val="FFFDFC"/>
          </a:solidFill>
          <a:ln w="12700">
            <a:solidFill>
              <a:srgbClr val="C5D9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1832" y="1865376"/>
            <a:ext cx="822960" cy="310896"/>
          </a:xfrm>
          <a:prstGeom prst="roundRect">
            <a:avLst>
              <a:gd name="adj" fmla="val 47059"/>
            </a:avLst>
          </a:prstGeom>
          <a:solidFill>
            <a:srgbClr val="DDEBD7"/>
          </a:solidFill>
          <a:ln w="12700">
            <a:solidFill>
              <a:srgbClr val="DDEB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14984" y="1892808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612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 · MAP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41832" y="23317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CS 201 syllabus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941832" y="2907792"/>
            <a:ext cx="1808683" cy="109728"/>
          </a:xfrm>
          <a:prstGeom prst="roundRect">
            <a:avLst>
              <a:gd name="adj" fmla="val 50000"/>
            </a:avLst>
          </a:prstGeom>
          <a:solidFill>
            <a:srgbClr val="DCCBB2"/>
          </a:solidFill>
          <a:ln w="12700">
            <a:solidFill>
              <a:srgbClr val="DCCBB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832" y="3236976"/>
            <a:ext cx="1454810" cy="109728"/>
          </a:xfrm>
          <a:prstGeom prst="roundRect">
            <a:avLst>
              <a:gd name="adj" fmla="val 50000"/>
            </a:avLst>
          </a:prstGeom>
          <a:solidFill>
            <a:srgbClr val="DCCBB2"/>
          </a:solidFill>
          <a:ln w="12700">
            <a:solidFill>
              <a:srgbClr val="DCCB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1832" y="3566160"/>
            <a:ext cx="1690726" cy="109728"/>
          </a:xfrm>
          <a:prstGeom prst="roundRect">
            <a:avLst>
              <a:gd name="adj" fmla="val 50000"/>
            </a:avLst>
          </a:prstGeom>
          <a:solidFill>
            <a:srgbClr val="4E8A5E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1832" y="3895344"/>
            <a:ext cx="1238555" cy="109728"/>
          </a:xfrm>
          <a:prstGeom prst="roundRect">
            <a:avLst>
              <a:gd name="adj" fmla="val 50000"/>
            </a:avLst>
          </a:prstGeom>
          <a:solidFill>
            <a:srgbClr val="DCCBB2"/>
          </a:solidFill>
          <a:ln w="12700">
            <a:solidFill>
              <a:srgbClr val="DCCB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1832" y="4224528"/>
            <a:ext cx="1572768" cy="109728"/>
          </a:xfrm>
          <a:prstGeom prst="roundRect">
            <a:avLst>
              <a:gd name="adj" fmla="val 50000"/>
            </a:avLst>
          </a:prstGeom>
          <a:solidFill>
            <a:srgbClr val="DCCBB2"/>
          </a:solidFill>
          <a:ln w="12700">
            <a:solidFill>
              <a:srgbClr val="DCCB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1832" y="4553712"/>
            <a:ext cx="1336853" cy="109728"/>
          </a:xfrm>
          <a:prstGeom prst="roundRect">
            <a:avLst>
              <a:gd name="adj" fmla="val 50000"/>
            </a:avLst>
          </a:prstGeom>
          <a:solidFill>
            <a:srgbClr val="DCCBB2"/>
          </a:solidFill>
          <a:ln w="12700">
            <a:solidFill>
              <a:srgbClr val="DCCB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8A5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Concepts + prerequisites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47872" y="3657600"/>
            <a:ext cx="612648" cy="0"/>
          </a:xfrm>
          <a:prstGeom prst="line">
            <a:avLst/>
          </a:prstGeom>
          <a:noFill/>
          <a:ln w="31750">
            <a:solidFill>
              <a:srgbClr val="4E8A5E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279392" y="1627632"/>
            <a:ext cx="3611880" cy="4370832"/>
          </a:xfrm>
          <a:prstGeom prst="roundRect">
            <a:avLst>
              <a:gd name="adj" fmla="val 3038"/>
            </a:avLst>
          </a:prstGeom>
          <a:solidFill>
            <a:srgbClr val="F0F6ED"/>
          </a:solidFill>
          <a:ln w="12700">
            <a:solidFill>
              <a:srgbClr val="C5D9C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3712" y="1865376"/>
            <a:ext cx="1024128" cy="310896"/>
          </a:xfrm>
          <a:prstGeom prst="roundRect">
            <a:avLst>
              <a:gd name="adj" fmla="val 47059"/>
            </a:avLst>
          </a:prstGeom>
          <a:solidFill>
            <a:srgbClr val="DDEBD7"/>
          </a:solidFill>
          <a:ln w="12700">
            <a:solidFill>
              <a:srgbClr val="DDEBD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6864" y="1892808"/>
            <a:ext cx="877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612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 · DECIDE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230368" y="2450592"/>
            <a:ext cx="1417320" cy="521208"/>
          </a:xfrm>
          <a:prstGeom prst="roundRect">
            <a:avLst>
              <a:gd name="adj" fmla="val 21053"/>
            </a:avLst>
          </a:prstGeom>
          <a:solidFill>
            <a:srgbClr val="FFFDFC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0" y="2496312"/>
            <a:ext cx="12710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Arrays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230368" y="3730752"/>
            <a:ext cx="1417320" cy="521208"/>
          </a:xfrm>
          <a:prstGeom prst="roundRect">
            <a:avLst>
              <a:gd name="adj" fmla="val 21053"/>
            </a:avLst>
          </a:prstGeom>
          <a:solidFill>
            <a:srgbClr val="FFF7E7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0" y="3776472"/>
            <a:ext cx="12710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Hash tables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230368" y="4992624"/>
            <a:ext cx="1417320" cy="521208"/>
          </a:xfrm>
          <a:prstGeom prst="roundRect">
            <a:avLst>
              <a:gd name="adj" fmla="val 21053"/>
            </a:avLst>
          </a:prstGeom>
          <a:solidFill>
            <a:srgbClr val="FFFDFC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0" y="5038344"/>
            <a:ext cx="12710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Graphs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943600" y="2980944"/>
            <a:ext cx="0" cy="658368"/>
          </a:xfrm>
          <a:prstGeom prst="line">
            <a:avLst/>
          </a:prstGeom>
          <a:noFill/>
          <a:ln w="25400">
            <a:solidFill>
              <a:srgbClr val="4E8A5E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943600" y="4261104"/>
            <a:ext cx="0" cy="640080"/>
          </a:xfrm>
          <a:prstGeom prst="line">
            <a:avLst/>
          </a:prstGeom>
          <a:noFill/>
          <a:ln w="25400">
            <a:solidFill>
              <a:srgbClr val="4E8A5E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553712" y="55961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E8A5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Weakest unlocked concept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10144" y="3657600"/>
            <a:ext cx="612648" cy="0"/>
          </a:xfrm>
          <a:prstGeom prst="line">
            <a:avLst/>
          </a:prstGeom>
          <a:noFill/>
          <a:ln w="31750">
            <a:solidFill>
              <a:srgbClr val="4E8A5E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41664" y="1627632"/>
            <a:ext cx="2743200" cy="4370832"/>
          </a:xfrm>
          <a:prstGeom prst="roundRect">
            <a:avLst>
              <a:gd name="adj" fmla="val 4000"/>
            </a:avLst>
          </a:prstGeom>
          <a:solidFill>
            <a:srgbClr val="FFFDFC"/>
          </a:solidFill>
          <a:ln w="12700">
            <a:solidFill>
              <a:srgbClr val="C5D9C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15984" y="1865376"/>
            <a:ext cx="960120" cy="310896"/>
          </a:xfrm>
          <a:prstGeom prst="roundRect">
            <a:avLst>
              <a:gd name="adj" fmla="val 47059"/>
            </a:avLst>
          </a:prstGeom>
          <a:solidFill>
            <a:srgbClr val="DDEBD7"/>
          </a:solidFill>
          <a:ln w="12700">
            <a:solidFill>
              <a:srgbClr val="DDEBD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89136" y="1892808"/>
            <a:ext cx="813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612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 · ADAPT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015984" y="239572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 answer updates</a:t>
            </a:r>
            <a:endParaRPr lang="en-US" sz="2300" dirty="0"/>
          </a:p>
        </p:txBody>
      </p:sp>
      <p:sp>
        <p:nvSpPr>
          <p:cNvPr id="36" name="Shape 34"/>
          <p:cNvSpPr/>
          <p:nvPr/>
        </p:nvSpPr>
        <p:spPr>
          <a:xfrm>
            <a:off x="9015984" y="2999232"/>
            <a:ext cx="2157984" cy="502920"/>
          </a:xfrm>
          <a:prstGeom prst="roundRect">
            <a:avLst>
              <a:gd name="adj" fmla="val 21818"/>
            </a:avLst>
          </a:prstGeom>
          <a:solidFill>
            <a:srgbClr val="FAF8F4"/>
          </a:solidFill>
          <a:ln w="12700">
            <a:solidFill>
              <a:srgbClr val="E0DBD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71432" y="3099816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8A5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Mastery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893808" y="3081528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9655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42% → 31%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9015984" y="3657600"/>
            <a:ext cx="2157984" cy="502920"/>
          </a:xfrm>
          <a:prstGeom prst="roundRect">
            <a:avLst>
              <a:gd name="adj" fmla="val 21818"/>
            </a:avLst>
          </a:prstGeom>
          <a:solidFill>
            <a:srgbClr val="FAF8F4"/>
          </a:solidFill>
          <a:ln w="12700">
            <a:solidFill>
              <a:srgbClr val="E0DBD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71432" y="3758184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8A5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Review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893808" y="373989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612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Tomorrow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9015984" y="4315968"/>
            <a:ext cx="2157984" cy="502920"/>
          </a:xfrm>
          <a:prstGeom prst="roundRect">
            <a:avLst>
              <a:gd name="adj" fmla="val 21818"/>
            </a:avLst>
          </a:prstGeom>
          <a:solidFill>
            <a:srgbClr val="FAF8F4"/>
          </a:solidFill>
          <a:ln w="12700">
            <a:solidFill>
              <a:srgbClr val="E0DBD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71432" y="4416552"/>
            <a:ext cx="749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8A5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Format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893808" y="439826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612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Try a diagram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052560" y="52212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State survives the chat.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8CD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654710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SPROUT · MHACKS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201400" y="6519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4114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backend closes the learning loop.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07899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E8A5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Model-generated content sits inside deterministic learning and real-time state.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874520"/>
            <a:ext cx="1417320" cy="621792"/>
          </a:xfrm>
          <a:prstGeom prst="roundRect">
            <a:avLst>
              <a:gd name="adj" fmla="val 17647"/>
            </a:avLst>
          </a:prstGeom>
          <a:solidFill>
            <a:srgbClr val="E4EEF7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920240"/>
            <a:ext cx="1271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ASI:One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1874520"/>
            <a:ext cx="1417320" cy="621792"/>
          </a:xfrm>
          <a:prstGeom prst="roundRect">
            <a:avLst>
              <a:gd name="adj" fmla="val 17647"/>
            </a:avLst>
          </a:prstGeom>
          <a:solidFill>
            <a:srgbClr val="DDEBD7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62072" y="1920240"/>
            <a:ext cx="12710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Sprout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194560" y="2185416"/>
            <a:ext cx="512064" cy="0"/>
          </a:xfrm>
          <a:prstGeom prst="line">
            <a:avLst/>
          </a:prstGeom>
          <a:noFill/>
          <a:ln w="31750">
            <a:solidFill>
              <a:srgbClr val="28577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19472" y="1481328"/>
            <a:ext cx="2926080" cy="3108960"/>
          </a:xfrm>
          <a:prstGeom prst="roundRect">
            <a:avLst>
              <a:gd name="adj" fmla="val 3750"/>
            </a:avLst>
          </a:prstGeom>
          <a:solidFill>
            <a:srgbClr val="F0F6ED"/>
          </a:solidFill>
          <a:ln w="12700">
            <a:solidFill>
              <a:srgbClr val="BBD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30368" y="179222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SpacetimeDB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266944" y="2395728"/>
            <a:ext cx="2249424" cy="457200"/>
          </a:xfrm>
          <a:prstGeom prst="roundRect">
            <a:avLst>
              <a:gd name="adj" fmla="val 24000"/>
            </a:avLst>
          </a:prstGeom>
          <a:solidFill>
            <a:srgbClr val="FFFDFC"/>
          </a:solidFill>
          <a:ln w="12700">
            <a:solidFill>
              <a:srgbClr val="D3E2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250545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612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BKT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71616" y="24871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updates mastery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266944" y="3017520"/>
            <a:ext cx="2249424" cy="457200"/>
          </a:xfrm>
          <a:prstGeom prst="roundRect">
            <a:avLst>
              <a:gd name="adj" fmla="val 24000"/>
            </a:avLst>
          </a:prstGeom>
          <a:solidFill>
            <a:srgbClr val="FFFDFC"/>
          </a:solidFill>
          <a:ln w="12700">
            <a:solidFill>
              <a:srgbClr val="D3E2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31536" y="312724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612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SM-2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71616" y="310896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schedules 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66944" y="3639312"/>
            <a:ext cx="2249424" cy="457200"/>
          </a:xfrm>
          <a:prstGeom prst="roundRect">
            <a:avLst>
              <a:gd name="adj" fmla="val 24000"/>
            </a:avLst>
          </a:prstGeom>
          <a:solidFill>
            <a:srgbClr val="FFFDFC"/>
          </a:solidFill>
          <a:ln w="12700">
            <a:solidFill>
              <a:srgbClr val="D3E2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31536" y="374904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612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Bandit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71616" y="37307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selects format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79392" y="2185416"/>
            <a:ext cx="557784" cy="0"/>
          </a:xfrm>
          <a:prstGeom prst="line">
            <a:avLst/>
          </a:prstGeom>
          <a:noFill/>
          <a:ln w="31750">
            <a:solidFill>
              <a:srgbClr val="4E8A5E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540496" y="1417320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FFFDFC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13648" y="1463040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Cards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40496" y="2340864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FFFDFC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13648" y="2386584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Garden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540496" y="3264408"/>
            <a:ext cx="1417320" cy="566928"/>
          </a:xfrm>
          <a:prstGeom prst="roundRect">
            <a:avLst>
              <a:gd name="adj" fmla="val 19355"/>
            </a:avLst>
          </a:prstGeom>
          <a:solidFill>
            <a:srgbClr val="FFFDFC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13648" y="3310128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Live games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946136" y="2185416"/>
            <a:ext cx="512064" cy="-484632"/>
          </a:xfrm>
          <a:prstGeom prst="line">
            <a:avLst/>
          </a:prstGeom>
          <a:noFill/>
          <a:ln w="25400">
            <a:solidFill>
              <a:srgbClr val="4E8A5E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946136" y="2185416"/>
            <a:ext cx="512064" cy="438912"/>
          </a:xfrm>
          <a:prstGeom prst="line">
            <a:avLst/>
          </a:prstGeom>
          <a:noFill/>
          <a:ln w="25400">
            <a:solidFill>
              <a:srgbClr val="4E8A5E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946136" y="2185416"/>
            <a:ext cx="512064" cy="1362456"/>
          </a:xfrm>
          <a:prstGeom prst="line">
            <a:avLst/>
          </a:prstGeom>
          <a:noFill/>
          <a:ln w="25400">
            <a:solidFill>
              <a:srgbClr val="4E8A5E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13232" y="4965192"/>
            <a:ext cx="9235440" cy="749808"/>
          </a:xfrm>
          <a:prstGeom prst="roundRect">
            <a:avLst>
              <a:gd name="adj" fmla="val 14634"/>
            </a:avLst>
          </a:prstGeom>
          <a:solidFill>
            <a:srgbClr val="FFFDFC"/>
          </a:solidFill>
          <a:ln w="12700">
            <a:solidFill>
              <a:srgbClr val="D8CDB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7552" y="5157216"/>
            <a:ext cx="8668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answer can update mastery, the review date, format evidence, and the attempt log in one transaction.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749808" y="5925312"/>
            <a:ext cx="3246120" cy="310896"/>
          </a:xfrm>
          <a:prstGeom prst="roundRect">
            <a:avLst>
              <a:gd name="adj" fmla="val 47059"/>
            </a:avLst>
          </a:prstGeom>
          <a:solidFill>
            <a:srgbClr val="DDE8F2"/>
          </a:solidFill>
          <a:ln w="12700">
            <a:solidFill>
              <a:srgbClr val="DDE8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952744"/>
            <a:ext cx="3099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857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Fetch.ai: agent + ACP + ASI:One + cards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5925312"/>
            <a:ext cx="3730752" cy="310896"/>
          </a:xfrm>
          <a:prstGeom prst="roundRect">
            <a:avLst>
              <a:gd name="adj" fmla="val 47059"/>
            </a:avLst>
          </a:prstGeom>
          <a:solidFill>
            <a:srgbClr val="E8E1F2"/>
          </a:solidFill>
          <a:ln w="12700">
            <a:solidFill>
              <a:srgbClr val="E8E1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33672" y="5952744"/>
            <a:ext cx="35844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0498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SpacetimeDB: transactions + shared state + sync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65008" y="5925312"/>
            <a:ext cx="1874520" cy="310896"/>
          </a:xfrm>
          <a:prstGeom prst="roundRect">
            <a:avLst>
              <a:gd name="adj" fmla="val 47059"/>
            </a:avLst>
          </a:prstGeom>
          <a:solidFill>
            <a:srgbClr val="DDEBD7"/>
          </a:solidFill>
          <a:ln w="12700">
            <a:solidFill>
              <a:srgbClr val="DDEBD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38160" y="5952744"/>
            <a:ext cx="17282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171 local tests passed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8CD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654710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SPROUT · MHACKS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201400" y="6519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</a:t>
            </a:r>
            <a:endParaRPr lang="en-US" sz="800" dirty="0"/>
          </a:p>
        </p:txBody>
      </p:sp>
      <p:pic>
        <p:nvPicPr>
          <p:cNvPr id="5" name="Image 0" descr="/Users/ashmith/sprout/web/public/leaf.png">    </p:cNvPr>
          <p:cNvPicPr>
            <a:picLocks noChangeAspect="1"/>
          </p:cNvPicPr>
          <p:nvPr/>
        </p:nvPicPr>
        <p:blipFill>
          <a:blip r:embed="rId1">
            <a:alphaModFix amt="82000"/>
          </a:blip>
          <a:stretch>
            <a:fillRect/>
          </a:stretch>
        </p:blipFill>
        <p:spPr>
          <a:xfrm rot="480000">
            <a:off x="9235440" y="18288"/>
            <a:ext cx="288036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841248"/>
            <a:ext cx="8046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2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One clear next action.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768096" y="1764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i="1" dirty="0">
                <a:solidFill>
                  <a:srgbClr val="0B612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Based on what the student actually knows.</a:t>
            </a:r>
            <a:endParaRPr lang="en-US" sz="3100" dirty="0"/>
          </a:p>
        </p:txBody>
      </p:sp>
      <p:sp>
        <p:nvSpPr>
          <p:cNvPr id="8" name="Shape 5"/>
          <p:cNvSpPr/>
          <p:nvPr/>
        </p:nvSpPr>
        <p:spPr>
          <a:xfrm>
            <a:off x="1298448" y="5001768"/>
            <a:ext cx="0" cy="914400"/>
          </a:xfrm>
          <a:prstGeom prst="line">
            <a:avLst/>
          </a:prstGeom>
          <a:noFill/>
          <a:ln w="63500">
            <a:solidFill>
              <a:srgbClr val="0B612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19800000">
            <a:off x="1024128" y="4526280"/>
            <a:ext cx="548640" cy="347472"/>
          </a:xfrm>
          <a:prstGeom prst="ellipse">
            <a:avLst/>
          </a:prstGeom>
          <a:solidFill>
            <a:srgbClr val="DCCBB2"/>
          </a:solidFill>
          <a:ln w="12700">
            <a:solidFill>
              <a:srgbClr val="DCCBB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23744" y="4636008"/>
            <a:ext cx="0" cy="914400"/>
          </a:xfrm>
          <a:prstGeom prst="line">
            <a:avLst/>
          </a:prstGeom>
          <a:noFill/>
          <a:ln w="63500">
            <a:solidFill>
              <a:srgbClr val="0B612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19800000">
            <a:off x="2249424" y="4160520"/>
            <a:ext cx="548640" cy="347472"/>
          </a:xfrm>
          <a:prstGeom prst="ellipse">
            <a:avLst/>
          </a:prstGeom>
          <a:solidFill>
            <a:srgbClr val="DCCBB2"/>
          </a:solidFill>
          <a:ln w="12700">
            <a:solidFill>
              <a:srgbClr val="DCCBB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749040" y="4224528"/>
            <a:ext cx="0" cy="914400"/>
          </a:xfrm>
          <a:prstGeom prst="line">
            <a:avLst/>
          </a:prstGeom>
          <a:noFill/>
          <a:ln w="63500">
            <a:solidFill>
              <a:srgbClr val="0B612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19800000">
            <a:off x="3474720" y="3749040"/>
            <a:ext cx="548640" cy="347472"/>
          </a:xfrm>
          <a:prstGeom prst="ellipse">
            <a:avLst/>
          </a:prstGeom>
          <a:solidFill>
            <a:srgbClr val="4E8A5E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1800000">
            <a:off x="3730752" y="4059936"/>
            <a:ext cx="566928" cy="347472"/>
          </a:xfrm>
          <a:prstGeom prst="ellipse">
            <a:avLst/>
          </a:prstGeom>
          <a:solidFill>
            <a:srgbClr val="4E8A5E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74336" y="3785616"/>
            <a:ext cx="0" cy="914400"/>
          </a:xfrm>
          <a:prstGeom prst="line">
            <a:avLst/>
          </a:prstGeom>
          <a:noFill/>
          <a:ln w="63500">
            <a:solidFill>
              <a:srgbClr val="0B612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19800000">
            <a:off x="4700016" y="3310128"/>
            <a:ext cx="548640" cy="347472"/>
          </a:xfrm>
          <a:prstGeom prst="ellipse">
            <a:avLst/>
          </a:prstGeom>
          <a:solidFill>
            <a:srgbClr val="4E8A5E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1800000">
            <a:off x="4956048" y="3621024"/>
            <a:ext cx="566928" cy="347472"/>
          </a:xfrm>
          <a:prstGeom prst="ellipse">
            <a:avLst/>
          </a:prstGeom>
          <a:solidFill>
            <a:srgbClr val="4E8A5E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3291840"/>
            <a:ext cx="0" cy="914400"/>
          </a:xfrm>
          <a:prstGeom prst="line">
            <a:avLst/>
          </a:prstGeom>
          <a:noFill/>
          <a:ln w="63500">
            <a:solidFill>
              <a:srgbClr val="0B612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19800000">
            <a:off x="5925312" y="2816352"/>
            <a:ext cx="548640" cy="347472"/>
          </a:xfrm>
          <a:prstGeom prst="ellipse">
            <a:avLst/>
          </a:prstGeom>
          <a:solidFill>
            <a:srgbClr val="4E8A5E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1800000">
            <a:off x="6181344" y="3127248"/>
            <a:ext cx="566928" cy="347472"/>
          </a:xfrm>
          <a:prstGeom prst="ellipse">
            <a:avLst/>
          </a:prstGeom>
          <a:solidFill>
            <a:srgbClr val="4E8A5E"/>
          </a:solidFill>
          <a:ln w="12700">
            <a:solidFill>
              <a:srgbClr val="4E8A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099048" y="2432304"/>
            <a:ext cx="320040" cy="320040"/>
          </a:xfrm>
          <a:prstGeom prst="ellipse">
            <a:avLst/>
          </a:prstGeom>
          <a:solidFill>
            <a:srgbClr val="E5B75A"/>
          </a:solidFill>
          <a:ln w="12700">
            <a:solidFill>
              <a:srgbClr val="E5B7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882128" y="3154680"/>
            <a:ext cx="3273552" cy="1883664"/>
          </a:xfrm>
          <a:prstGeom prst="roundRect">
            <a:avLst>
              <a:gd name="adj" fmla="val 5825"/>
            </a:avLst>
          </a:prstGeom>
          <a:solidFill>
            <a:srgbClr val="FFFDFC"/>
          </a:solidFill>
          <a:ln w="12700">
            <a:solidFill>
              <a:srgbClr val="C5D9C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11312" y="3493008"/>
            <a:ext cx="2615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6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Try Sprout in ASI:One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302752" y="413308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612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@sprout-main-cloud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914400" y="580644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4E8A5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Persistent learning. Adaptive teaching. Shared practice.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8CD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654710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SPROUT · MHACKS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201400" y="6519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4114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Backup · What changes after an answer?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1508760"/>
            <a:ext cx="5230368" cy="1664208"/>
          </a:xfrm>
          <a:prstGeom prst="roundRect">
            <a:avLst>
              <a:gd name="adj" fmla="val 6593"/>
            </a:avLst>
          </a:prstGeom>
          <a:solidFill>
            <a:srgbClr val="FFFDFC"/>
          </a:solidFill>
          <a:ln w="12700">
            <a:solidFill>
              <a:srgbClr val="D5E1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" y="1764792"/>
            <a:ext cx="347472" cy="310896"/>
          </a:xfrm>
          <a:prstGeom prst="roundRect">
            <a:avLst>
              <a:gd name="adj" fmla="val 47059"/>
            </a:avLst>
          </a:prstGeom>
          <a:solidFill>
            <a:srgbClr val="0B6122"/>
          </a:solidFill>
          <a:ln w="12700">
            <a:solidFill>
              <a:srgbClr val="0B61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4984" y="1792224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435608" y="17373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Mastery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960120" y="227685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Bayesian Knowledge Tracing updates P(mastered) using the concept’s learn, slip, and guess parameters.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63640" y="1508760"/>
            <a:ext cx="5230368" cy="1664208"/>
          </a:xfrm>
          <a:prstGeom prst="roundRect">
            <a:avLst>
              <a:gd name="adj" fmla="val 6593"/>
            </a:avLst>
          </a:prstGeom>
          <a:solidFill>
            <a:srgbClr val="FFFDFC"/>
          </a:solidFill>
          <a:ln w="12700">
            <a:solidFill>
              <a:srgbClr val="D5E1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19672" y="1764792"/>
            <a:ext cx="347472" cy="310896"/>
          </a:xfrm>
          <a:prstGeom prst="roundRect">
            <a:avLst>
              <a:gd name="adj" fmla="val 47059"/>
            </a:avLst>
          </a:prstGeom>
          <a:solidFill>
            <a:srgbClr val="0B6122"/>
          </a:solidFill>
          <a:ln w="12700">
            <a:solidFill>
              <a:srgbClr val="0B61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92824" y="1792224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13448" y="17373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Review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6537960" y="227685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SM-2 updates ease and interval, with the next review capped before the exam.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3630168"/>
            <a:ext cx="5230368" cy="1664208"/>
          </a:xfrm>
          <a:prstGeom prst="roundRect">
            <a:avLst>
              <a:gd name="adj" fmla="val 6593"/>
            </a:avLst>
          </a:prstGeom>
          <a:solidFill>
            <a:srgbClr val="FFFDFC"/>
          </a:solidFill>
          <a:ln w="12700">
            <a:solidFill>
              <a:srgbClr val="D5E1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1832" y="3886200"/>
            <a:ext cx="347472" cy="310896"/>
          </a:xfrm>
          <a:prstGeom prst="roundRect">
            <a:avLst>
              <a:gd name="adj" fmla="val 47059"/>
            </a:avLst>
          </a:prstGeom>
          <a:solidFill>
            <a:srgbClr val="0B6122"/>
          </a:solidFill>
          <a:ln w="12700">
            <a:solidFill>
              <a:srgbClr val="0B61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4984" y="3913632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435608" y="38587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Format evidence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960120" y="439826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Checks after a lesson update the selected format’s Beta distribution.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3630168"/>
            <a:ext cx="5230368" cy="1664208"/>
          </a:xfrm>
          <a:prstGeom prst="roundRect">
            <a:avLst>
              <a:gd name="adj" fmla="val 6593"/>
            </a:avLst>
          </a:prstGeom>
          <a:solidFill>
            <a:srgbClr val="FFFDFC"/>
          </a:solidFill>
          <a:ln w="12700">
            <a:solidFill>
              <a:srgbClr val="D5E1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19672" y="3886200"/>
            <a:ext cx="347472" cy="310896"/>
          </a:xfrm>
          <a:prstGeom prst="roundRect">
            <a:avLst>
              <a:gd name="adj" fmla="val 47059"/>
            </a:avLst>
          </a:prstGeom>
          <a:solidFill>
            <a:srgbClr val="0B6122"/>
          </a:solidFill>
          <a:ln w="12700">
            <a:solidFill>
              <a:srgbClr val="0B61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3913632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3448" y="385876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Evidence log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6537960" y="439826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attempt stores the question, result, mastery before and mastery after.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8CD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654710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SPROUT · MHACKS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201400" y="6519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4114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Backup · Why SpacetimeDB is core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07899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E8A5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database owns decisions and shared interaction, not only storage.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554480"/>
            <a:ext cx="10561320" cy="749808"/>
          </a:xfrm>
          <a:prstGeom prst="roundRect">
            <a:avLst>
              <a:gd name="adj" fmla="val 14634"/>
            </a:avLst>
          </a:prstGeom>
          <a:solidFill>
            <a:srgbClr val="FFFDFC"/>
          </a:solidFill>
          <a:ln w="12700">
            <a:solidFill>
              <a:srgbClr val="D5E1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71907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Transactional learning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01568" y="171907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Reducers update mastery, scheduling, format evidence, and logs together.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2578608"/>
            <a:ext cx="10561320" cy="749808"/>
          </a:xfrm>
          <a:prstGeom prst="roundRect">
            <a:avLst>
              <a:gd name="adj" fmla="val 14634"/>
            </a:avLst>
          </a:prstGeom>
          <a:solidFill>
            <a:srgbClr val="F8F4ED"/>
          </a:solidFill>
          <a:ln w="12700">
            <a:solidFill>
              <a:srgbClr val="D5E1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743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Server-side decisions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01568" y="274320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database selects the next eligible concept and teaching format.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3602736"/>
            <a:ext cx="10561320" cy="749808"/>
          </a:xfrm>
          <a:prstGeom prst="roundRect">
            <a:avLst>
              <a:gd name="adj" fmla="val 14634"/>
            </a:avLst>
          </a:prstGeom>
          <a:solidFill>
            <a:srgbClr val="FFFDFC"/>
          </a:solidFill>
          <a:ln w="12700">
            <a:solidFill>
              <a:srgbClr val="D5E1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37673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Live multiplayer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01568" y="3767328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Subscriptions synchronize rooms, timers, answers, scores, and standings.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26864"/>
            <a:ext cx="10561320" cy="749808"/>
          </a:xfrm>
          <a:prstGeom prst="roundRect">
            <a:avLst>
              <a:gd name="adj" fmla="val 14634"/>
            </a:avLst>
          </a:prstGeom>
          <a:solidFill>
            <a:srgbClr val="F8F4ED"/>
          </a:solidFill>
          <a:ln w="12700">
            <a:solidFill>
              <a:srgbClr val="D5E1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47914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E17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Persistent identity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401568" y="4791456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agent session reads the same learner and course state.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4672" y="5870448"/>
            <a:ext cx="10287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0498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Sponsor criterion: meaningful use of real-time subscriptions, transactional updates, and server-side logic.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510528"/>
            <a:ext cx="11091672" cy="0"/>
          </a:xfrm>
          <a:prstGeom prst="line">
            <a:avLst/>
          </a:prstGeom>
          <a:noFill/>
          <a:ln w="12700">
            <a:solidFill>
              <a:srgbClr val="D8CD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654710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SPROUT · MHACKS 2026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201400" y="6519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4806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411480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Backup · What is live, built, and next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1600200"/>
            <a:ext cx="3456432" cy="4114800"/>
          </a:xfrm>
          <a:prstGeom prst="roundRect">
            <a:avLst>
              <a:gd name="adj" fmla="val 3175"/>
            </a:avLst>
          </a:prstGeom>
          <a:solidFill>
            <a:srgbClr val="F0F6ED"/>
          </a:solidFill>
          <a:ln w="12700">
            <a:solidFill>
              <a:srgbClr val="BBD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1901952"/>
            <a:ext cx="2944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Live core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1005840" y="2679192"/>
            <a:ext cx="118872" cy="118872"/>
          </a:xfrm>
          <a:prstGeom prst="ellipse">
            <a:avLst/>
          </a:prstGeom>
          <a:solidFill>
            <a:srgbClr val="0B6122"/>
          </a:solidFill>
          <a:ln w="12700">
            <a:solidFill>
              <a:srgbClr val="0B61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61872" y="2542032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Agentverse agents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05840" y="3291840"/>
            <a:ext cx="118872" cy="118872"/>
          </a:xfrm>
          <a:prstGeom prst="ellipse">
            <a:avLst/>
          </a:prstGeom>
          <a:solidFill>
            <a:srgbClr val="0B6122"/>
          </a:solidFill>
          <a:ln w="12700">
            <a:solidFill>
              <a:srgbClr val="0B61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61872" y="3154680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ASI:One card flow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05840" y="3904488"/>
            <a:ext cx="118872" cy="118872"/>
          </a:xfrm>
          <a:prstGeom prst="ellipse">
            <a:avLst/>
          </a:prstGeom>
          <a:solidFill>
            <a:srgbClr val="0B6122"/>
          </a:solidFill>
          <a:ln w="12700">
            <a:solidFill>
              <a:srgbClr val="0B61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1872" y="3767328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Persistent learner state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05840" y="4517136"/>
            <a:ext cx="118872" cy="118872"/>
          </a:xfrm>
          <a:prstGeom prst="ellipse">
            <a:avLst/>
          </a:prstGeom>
          <a:solidFill>
            <a:srgbClr val="0B6122"/>
          </a:solidFill>
          <a:ln w="12700">
            <a:solidFill>
              <a:srgbClr val="0B61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1872" y="4379976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Garden pages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480560" y="1600200"/>
            <a:ext cx="3456432" cy="4114800"/>
          </a:xfrm>
          <a:prstGeom prst="roundRect">
            <a:avLst>
              <a:gd name="adj" fmla="val 3175"/>
            </a:avLst>
          </a:prstGeom>
          <a:solidFill>
            <a:srgbClr val="FFF8E8"/>
          </a:solidFill>
          <a:ln w="12700">
            <a:solidFill>
              <a:srgbClr val="E6CE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36592" y="1901952"/>
            <a:ext cx="2944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Built extension</a:t>
            </a:r>
            <a:endParaRPr lang="en-US" sz="2500" dirty="0"/>
          </a:p>
        </p:txBody>
      </p:sp>
      <p:sp>
        <p:nvSpPr>
          <p:cNvPr id="18" name="Shape 16"/>
          <p:cNvSpPr/>
          <p:nvPr/>
        </p:nvSpPr>
        <p:spPr>
          <a:xfrm>
            <a:off x="4800600" y="2679192"/>
            <a:ext cx="118872" cy="118872"/>
          </a:xfrm>
          <a:prstGeom prst="ellipse">
            <a:avLst/>
          </a:prstGeom>
          <a:solidFill>
            <a:srgbClr val="E5B75A"/>
          </a:solidFill>
          <a:ln w="12700">
            <a:solidFill>
              <a:srgbClr val="E5B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56632" y="2542032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Live quiz reducers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800600" y="3291840"/>
            <a:ext cx="118872" cy="118872"/>
          </a:xfrm>
          <a:prstGeom prst="ellipse">
            <a:avLst/>
          </a:prstGeom>
          <a:solidFill>
            <a:srgbClr val="E5B75A"/>
          </a:solidFill>
          <a:ln w="12700">
            <a:solidFill>
              <a:srgbClr val="E5B7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56632" y="3154680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Host and player UI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00600" y="3904488"/>
            <a:ext cx="118872" cy="118872"/>
          </a:xfrm>
          <a:prstGeom prst="ellipse">
            <a:avLst/>
          </a:prstGeom>
          <a:solidFill>
            <a:srgbClr val="E5B75A"/>
          </a:solidFill>
          <a:ln w="12700">
            <a:solidFill>
              <a:srgbClr val="E5B7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56632" y="3767328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Arcade modes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800600" y="4517136"/>
            <a:ext cx="118872" cy="118872"/>
          </a:xfrm>
          <a:prstGeom prst="ellipse">
            <a:avLst/>
          </a:prstGeom>
          <a:solidFill>
            <a:srgbClr val="E5B75A"/>
          </a:solidFill>
          <a:ln w="12700">
            <a:solidFill>
              <a:srgbClr val="E5B7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4379976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Offline BKT fitter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275320" y="1600200"/>
            <a:ext cx="3456432" cy="4114800"/>
          </a:xfrm>
          <a:prstGeom prst="roundRect">
            <a:avLst>
              <a:gd name="adj" fmla="val 3175"/>
            </a:avLst>
          </a:prstGeom>
          <a:solidFill>
            <a:srgbClr val="F8F4ED"/>
          </a:solidFill>
          <a:ln w="12700">
            <a:solidFill>
              <a:srgbClr val="D8CDB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31352" y="1901952"/>
            <a:ext cx="2944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dirty="0">
                <a:solidFill>
                  <a:srgbClr val="083E1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Next validation</a:t>
            </a:r>
            <a:endParaRPr lang="en-US" sz="2500" dirty="0"/>
          </a:p>
        </p:txBody>
      </p:sp>
      <p:sp>
        <p:nvSpPr>
          <p:cNvPr id="28" name="Shape 26"/>
          <p:cNvSpPr/>
          <p:nvPr/>
        </p:nvSpPr>
        <p:spPr>
          <a:xfrm>
            <a:off x="8595360" y="2679192"/>
            <a:ext cx="118872" cy="118872"/>
          </a:xfrm>
          <a:prstGeom prst="ellipse">
            <a:avLst/>
          </a:prstGeom>
          <a:solidFill>
            <a:srgbClr val="B96558"/>
          </a:solidFill>
          <a:ln w="12700">
            <a:solidFill>
              <a:srgbClr val="B96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51392" y="2542032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End-to-end game run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595360" y="3291840"/>
            <a:ext cx="118872" cy="118872"/>
          </a:xfrm>
          <a:prstGeom prst="ellipse">
            <a:avLst/>
          </a:prstGeom>
          <a:solidFill>
            <a:srgbClr val="B96558"/>
          </a:solidFill>
          <a:ln w="12700">
            <a:solidFill>
              <a:srgbClr val="B96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51392" y="3154680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Agent discovery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595360" y="3904488"/>
            <a:ext cx="118872" cy="118872"/>
          </a:xfrm>
          <a:prstGeom prst="ellipse">
            <a:avLst/>
          </a:prstGeom>
          <a:solidFill>
            <a:srgbClr val="B96558"/>
          </a:solidFill>
          <a:ln w="12700">
            <a:solidFill>
              <a:srgbClr val="B9655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51392" y="3767328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Privacy hardening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595360" y="4517136"/>
            <a:ext cx="118872" cy="118872"/>
          </a:xfrm>
          <a:prstGeom prst="ellipse">
            <a:avLst/>
          </a:prstGeom>
          <a:solidFill>
            <a:srgbClr val="B96558"/>
          </a:solidFill>
          <a:ln w="12700">
            <a:solidFill>
              <a:srgbClr val="B9655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51392" y="4379976"/>
            <a:ext cx="2532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0241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User learning study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strument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Sprout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Sprout remembers what you know</dc:title>
  <dc:subject>MHacks 2026 three-minute pitch</dc:subject>
  <dc:creator>Sprout</dc:creator>
  <cp:lastModifiedBy>Sprout</cp:lastModifiedBy>
  <cp:revision>1</cp:revision>
  <dcterms:created xsi:type="dcterms:W3CDTF">2026-10-04T05:42:22Z</dcterms:created>
  <dcterms:modified xsi:type="dcterms:W3CDTF">2026-10-04T05:42:22Z</dcterms:modified>
</cp:coreProperties>
</file>